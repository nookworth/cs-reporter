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4.xml" ContentType="application/vnd.openxmlformats-officedocument.theme+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7.xml" ContentType="application/vnd.openxmlformats-officedocument.presentationml.slide+xml"/>
  <Override PartName="/ppt/slides/slide1.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6.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Lst>
  <p:sldSz cx="9144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 name="PlaceHolder 1"/>
          <p:cNvSpPr>
            <a:spLocks noGrp="1"/>
          </p:cNvSpPr>
          <p:nvPr>
            <p:ph type="sldImg"/>
          </p:nvPr>
        </p:nvSpPr>
        <p:spPr>
          <a:xfrm>
            <a:off x="533520" y="764280"/>
            <a:ext cx="6704640" cy="3771360"/>
          </a:xfrm>
          <a:prstGeom prst="rect">
            <a:avLst/>
          </a:prstGeom>
          <a:noFill/>
          <a:ln w="0">
            <a:noFill/>
          </a:ln>
        </p:spPr>
        <p:txBody>
          <a:bodyPr lIns="0" rIns="0" tIns="0" bIns="0" anchor="ctr">
            <a:noAutofit/>
          </a:bodyPr>
          <a:p>
            <a:pPr algn="ctr"/>
            <a:r>
              <a:rPr lang="en-US" sz="4400" b="0" u="none" strike="noStrike">
                <a:solidFill>
                  <a:srgbClr val="000000"/>
                </a:solidFill>
                <a:effectLst/>
                <a:uFillTx/>
                <a:latin typeface="Arial"/>
              </a:rPr>
              <a:t>Click to move the slide</a:t>
            </a:r>
            <a:endParaRPr lang="en-US" sz="4400" b="0" u="none" strike="noStrike">
              <a:solidFill>
                <a:srgbClr val="000000"/>
              </a:solidFill>
              <a:effectLst/>
              <a:uFillTx/>
              <a:latin typeface="Arial"/>
            </a:endParaRPr>
          </a:p>
        </p:txBody>
      </p:sp>
      <p:sp>
        <p:nvSpPr>
          <p:cNvPr id="16"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indent="0">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7"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8"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9"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C9B9165F-D84E-420C-BC39-13B6EB979AE6}"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PlaceHolder 1"/>
          <p:cNvSpPr>
            <a:spLocks noGrp="1"/>
          </p:cNvSpPr>
          <p:nvPr>
            <p:ph type="sldImg"/>
          </p:nvPr>
        </p:nvSpPr>
        <p:spPr>
          <a:xfrm>
            <a:off x="1371600" y="768240"/>
            <a:ext cx="5029200" cy="3767400"/>
          </a:xfrm>
          <a:prstGeom prst="rect">
            <a:avLst/>
          </a:prstGeom>
          <a:ln w="0">
            <a:noFill/>
          </a:ln>
        </p:spPr>
      </p:sp>
      <p:sp>
        <p:nvSpPr>
          <p:cNvPr id="69" name="PlaceHolder 2"/>
          <p:cNvSpPr>
            <a:spLocks noGrp="1"/>
          </p:cNvSpPr>
          <p:nvPr>
            <p:ph type="body"/>
          </p:nvPr>
        </p:nvSpPr>
        <p:spPr>
          <a:xfrm>
            <a:off x="777240" y="4773240"/>
            <a:ext cx="6217920" cy="4526280"/>
          </a:xfrm>
          <a:prstGeom prst="rect">
            <a:avLst/>
          </a:prstGeom>
          <a:noFill/>
          <a:ln w="0">
            <a:noFill/>
          </a:ln>
        </p:spPr>
        <p:txBody>
          <a:bodyPr lIns="0" rIns="0" tIns="0" bIns="0" anchor="t">
            <a:spAutoFit/>
          </a:bodyPr>
          <a:p>
            <a:pPr marL="139680" indent="-139680" rtl="1">
              <a:buClr>
                <a:srgbClr val="000000"/>
              </a:buClr>
              <a:buSzPct val="45000"/>
              <a:buFont typeface="OpenSymbol"/>
              <a:buAutoNum type="arabicPeriod"/>
            </a:pPr>
            <a:r>
              <a:rPr lang="en-US" sz="900" b="0" u="none" strike="noStrike">
                <a:solidFill>
                  <a:srgbClr val="000000"/>
                </a:solidFill>
                <a:effectLst/>
                <a:uFillTx/>
                <a:latin typeface="ArialMT"/>
                <a:ea typeface="ArialMT"/>
              </a:rPr>
              <a:t>introduce myself</a:t>
            </a:r>
            <a:endParaRPr lang="en-US" sz="900" b="0" u="none" strike="noStrike">
              <a:solidFill>
                <a:srgbClr val="000000"/>
              </a:solidFill>
              <a:effectLst/>
              <a:uFillTx/>
              <a:latin typeface="Arial"/>
            </a:endParaRPr>
          </a:p>
          <a:p>
            <a:pPr marL="139680" indent="-139680" rtl="1">
              <a:buClr>
                <a:srgbClr val="000000"/>
              </a:buClr>
              <a:buSzPct val="45000"/>
              <a:buFont typeface="OpenSymbol"/>
              <a:buAutoNum type="arabicPeriod"/>
            </a:pPr>
            <a:r>
              <a:rPr lang="en-US" sz="900" b="0" u="none" strike="noStrike">
                <a:solidFill>
                  <a:srgbClr val="000000"/>
                </a:solidFill>
                <a:effectLst/>
                <a:uFillTx/>
                <a:latin typeface="ArialMT"/>
                <a:ea typeface="ArialMT"/>
              </a:rPr>
              <a:t>point of contact in addition to the l1 support team</a:t>
            </a:r>
            <a:endParaRPr lang="en-US" sz="900" b="0" u="none" strike="noStrike">
              <a:solidFill>
                <a:srgbClr val="000000"/>
              </a:solidFill>
              <a:effectLst/>
              <a:uFillTx/>
              <a:latin typeface="Arial"/>
            </a:endParaRPr>
          </a:p>
          <a:p>
            <a:pPr marL="139680" indent="-139680" rtl="1">
              <a:buClr>
                <a:srgbClr val="000000"/>
              </a:buClr>
              <a:buSzPct val="45000"/>
              <a:buFont typeface="OpenSymbol"/>
              <a:buAutoNum type="arabicPeriod"/>
            </a:pPr>
            <a:r>
              <a:rPr lang="en-US" sz="900" b="0" u="none" strike="noStrike">
                <a:solidFill>
                  <a:srgbClr val="000000"/>
                </a:solidFill>
                <a:effectLst/>
                <a:uFillTx/>
                <a:latin typeface="ArialMT"/>
                <a:ea typeface="ArialMT"/>
              </a:rPr>
              <a:t>intro the presentation</a:t>
            </a:r>
            <a:endParaRPr lang="en-US" sz="900" b="0" u="none" strike="noStrike">
              <a:solidFill>
                <a:srgbClr val="000000"/>
              </a:solidFill>
              <a:effectLst/>
              <a:uFillTx/>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 name="PlaceHolder 1"/>
          <p:cNvSpPr>
            <a:spLocks noGrp="1"/>
          </p:cNvSpPr>
          <p:nvPr>
            <p:ph type="sldImg"/>
          </p:nvPr>
        </p:nvSpPr>
        <p:spPr>
          <a:xfrm>
            <a:off x="1371600" y="768240"/>
            <a:ext cx="5029200" cy="3767400"/>
          </a:xfrm>
          <a:prstGeom prst="rect">
            <a:avLst/>
          </a:prstGeom>
          <a:ln w="0">
            <a:noFill/>
          </a:ln>
        </p:spPr>
      </p:sp>
      <p:sp>
        <p:nvSpPr>
          <p:cNvPr id="71" name="PlaceHolder 2"/>
          <p:cNvSpPr>
            <a:spLocks noGrp="1"/>
          </p:cNvSpPr>
          <p:nvPr>
            <p:ph type="body"/>
          </p:nvPr>
        </p:nvSpPr>
        <p:spPr>
          <a:xfrm>
            <a:off x="777240" y="4773240"/>
            <a:ext cx="6217920" cy="4526280"/>
          </a:xfrm>
          <a:prstGeom prst="rect">
            <a:avLst/>
          </a:prstGeom>
          <a:noFill/>
          <a:ln w="0">
            <a:noFill/>
          </a:ln>
        </p:spPr>
        <p:txBody>
          <a:bodyPr lIns="0" rIns="0" tIns="0" bIns="0" anchor="t">
            <a:spAutoFit/>
          </a:bodyPr>
          <a:p>
            <a:pPr indent="0" rtl="1">
              <a:buNone/>
            </a:pPr>
            <a:r>
              <a:rPr lang="en-US" sz="900" b="0" u="none" strike="noStrike">
                <a:solidFill>
                  <a:srgbClr val="000000"/>
                </a:solidFill>
                <a:effectLst/>
                <a:uFillTx/>
                <a:latin typeface="ArialMT"/>
                <a:ea typeface="ArialMT"/>
              </a:rPr>
              <a:t>I will provide you all a copy of this presentation shortly after the conclusion of this meeting. Any outstanding questions will be addressed in the next days if not by next week. Please feel free to reach out to me with any other questions you have. thank you</a:t>
            </a:r>
            <a:endParaRPr lang="en-US" sz="900" b="0" u="none" strike="noStrike">
              <a:solidFill>
                <a:srgbClr val="000000"/>
              </a:solidFill>
              <a:effectLst/>
              <a:uFillTx/>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Slide0">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Slide0">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73600"/>
            <a:ext cx="8229240" cy="114480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Arial"/>
            </a:endParaRPr>
          </a:p>
        </p:txBody>
      </p:sp>
      <p:sp>
        <p:nvSpPr>
          <p:cNvPr id="6" name="PlaceHolder 2"/>
          <p:cNvSpPr>
            <a:spLocks noGrp="1"/>
          </p:cNvSpPr>
          <p:nvPr>
            <p:ph type="subTitle"/>
          </p:nvPr>
        </p:nvSpPr>
        <p:spPr>
          <a:xfrm>
            <a:off x="457200" y="1604520"/>
            <a:ext cx="8229240" cy="3977280"/>
          </a:xfrm>
          <a:prstGeom prst="rect">
            <a:avLst/>
          </a:prstGeom>
          <a:noFill/>
          <a:ln w="0">
            <a:noFill/>
          </a:ln>
        </p:spPr>
        <p:txBody>
          <a:bodyPr lIns="0" rIns="0" t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Slide1">
    <p:bg>
      <p:bgPr>
        <a:solidFill>
          <a:srgbClr val="ffffff"/>
        </a:solidFill>
      </p:bgPr>
    </p:bg>
    <p:spTree>
      <p:nvGrpSpPr>
        <p:cNvPr id="1" name=""/>
        <p:cNvGrpSpPr/>
        <p:nvPr/>
      </p:nvGrpSpPr>
      <p:grpSpPr>
        <a:xfrm>
          <a:off x="0" y="0"/>
          <a:ext cx="0" cy="0"/>
          <a:chOff x="0" y="0"/>
          <a:chExt cx="0" cy="0"/>
        </a:xfrm>
      </p:grpSpPr>
      <p:sp>
        <p:nvSpPr>
          <p:cNvPr id="7" name=""/>
          <p:cNvSpPr txBox="1"/>
          <p:nvPr/>
        </p:nvSpPr>
        <p:spPr>
          <a:xfrm>
            <a:off x="4187880" y="6642000"/>
            <a:ext cx="797040" cy="343080"/>
          </a:xfrm>
          <a:prstGeom prst="rect">
            <a:avLst/>
          </a:prstGeom>
          <a:noFill/>
          <a:ln w="0">
            <a:noFill/>
          </a:ln>
        </p:spPr>
        <p:txBody>
          <a:bodyPr lIns="90000" rIns="90000" tIns="45000" bIns="45000" anchor="t">
            <a:spAutoFit/>
          </a:bodyPr>
          <a:p>
            <a:r>
              <a:rPr lang="en-US" sz="1000" b="0" u="none" strike="noStrike">
                <a:solidFill>
                  <a:srgbClr val="ff0000"/>
                </a:solidFill>
                <a:effectLst/>
                <a:uFillTx/>
                <a:latin typeface="Calibri"/>
                <a:ea typeface="Calibri"/>
              </a:rPr>
              <a:t>CONFIDENTIAL</a:t>
            </a:r>
            <a:endParaRPr lang="en-US" sz="1000" b="0" u="none" strike="noStrike">
              <a:solidFill>
                <a:srgbClr val="000000"/>
              </a:solidFill>
              <a:effectLst/>
              <a:uFillTx/>
              <a:latin typeface="Arial"/>
            </a:endParaRPr>
          </a:p>
        </p:txBody>
      </p:sp>
      <p:sp>
        <p:nvSpPr>
          <p:cNvPr id="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9"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Slide2">
    <p:bg>
      <p:bgPr>
        <a:solidFill>
          <a:srgbClr val="ffffff"/>
        </a:solidFill>
      </p:bgPr>
    </p:bg>
    <p:spTree>
      <p:nvGrpSpPr>
        <p:cNvPr id="1" name=""/>
        <p:cNvGrpSpPr/>
        <p:nvPr/>
      </p:nvGrpSpPr>
      <p:grpSpPr>
        <a:xfrm>
          <a:off x="0" y="0"/>
          <a:ext cx="0" cy="0"/>
          <a:chOff x="0" y="0"/>
          <a:chExt cx="0" cy="0"/>
        </a:xfrm>
      </p:grpSpPr>
      <p:sp>
        <p:nvSpPr>
          <p:cNvPr id="10" name=""/>
          <p:cNvSpPr txBox="1"/>
          <p:nvPr/>
        </p:nvSpPr>
        <p:spPr>
          <a:xfrm>
            <a:off x="4187880" y="6642000"/>
            <a:ext cx="797040" cy="343080"/>
          </a:xfrm>
          <a:prstGeom prst="rect">
            <a:avLst/>
          </a:prstGeom>
          <a:noFill/>
          <a:ln w="0">
            <a:noFill/>
          </a:ln>
        </p:spPr>
        <p:txBody>
          <a:bodyPr lIns="90000" rIns="90000" tIns="45000" bIns="45000" anchor="t">
            <a:spAutoFit/>
          </a:bodyPr>
          <a:p>
            <a:r>
              <a:rPr lang="en-US" sz="1000" b="0" u="none" strike="noStrike">
                <a:solidFill>
                  <a:srgbClr val="ff0000"/>
                </a:solidFill>
                <a:effectLst/>
                <a:uFillTx/>
                <a:latin typeface="Calibri"/>
                <a:ea typeface="Calibri"/>
              </a:rPr>
              <a:t>CONFIDENTIAL</a:t>
            </a:r>
            <a:endParaRPr lang="en-US" sz="1000" b="0" u="none" strike="noStrike">
              <a:solidFill>
                <a:srgbClr val="000000"/>
              </a:solidFill>
              <a:effectLst/>
              <a:uFillTx/>
              <a:latin typeface="Arial"/>
            </a:endParaRPr>
          </a:p>
        </p:txBody>
      </p:sp>
      <p:pic>
        <p:nvPicPr>
          <p:cNvPr id="11" name=""/>
          <p:cNvPicPr/>
          <p:nvPr/>
        </p:nvPicPr>
        <p:blipFill>
          <a:blip r:embed="rId2"/>
          <a:stretch/>
        </p:blipFill>
        <p:spPr>
          <a:xfrm>
            <a:off x="2187720" y="2711520"/>
            <a:ext cx="4968000" cy="1484640"/>
          </a:xfrm>
          <a:prstGeom prst="rect">
            <a:avLst/>
          </a:prstGeom>
          <a:noFill/>
          <a:ln w="0">
            <a:noFill/>
          </a:ln>
        </p:spPr>
      </p:pic>
      <p:pic>
        <p:nvPicPr>
          <p:cNvPr id="12" name=""/>
          <p:cNvPicPr/>
          <p:nvPr/>
        </p:nvPicPr>
        <p:blipFill>
          <a:blip r:embed="rId3"/>
          <a:stretch/>
        </p:blipFill>
        <p:spPr>
          <a:xfrm>
            <a:off x="3478320" y="3980160"/>
            <a:ext cx="3672000" cy="213120"/>
          </a:xfrm>
          <a:prstGeom prst="rect">
            <a:avLst/>
          </a:prstGeom>
          <a:noFill/>
          <a:ln w="0">
            <a:noFill/>
          </a:ln>
        </p:spPr>
      </p:pic>
      <p:sp>
        <p:nvSpPr>
          <p:cNvPr id="1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14"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slideLayout" Target="../slideLayouts/slideLayout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Relationship Id="rId3" Type="http://schemas.openxmlformats.org/officeDocument/2006/relationships/slideLayout" Target="../slideLayouts/slideLayout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stretch/>
        </a:blipFill>
      </p:bgPr>
    </p:bg>
    <p:spTree>
      <p:nvGrpSpPr>
        <p:cNvPr id="1" name=""/>
        <p:cNvGrpSpPr/>
        <p:nvPr/>
      </p:nvGrpSpPr>
      <p:grpSpPr>
        <a:xfrm>
          <a:off x="0" y="0"/>
          <a:ext cx="0" cy="0"/>
          <a:chOff x="0" y="0"/>
          <a:chExt cx="0" cy="0"/>
        </a:xfrm>
      </p:grpSpPr>
      <p:sp>
        <p:nvSpPr>
          <p:cNvPr id="2" name=""/>
          <p:cNvSpPr txBox="1"/>
          <p:nvPr/>
        </p:nvSpPr>
        <p:spPr>
          <a:xfrm>
            <a:off x="442800" y="4263480"/>
            <a:ext cx="4289400" cy="1077120"/>
          </a:xfrm>
          <a:prstGeom prst="rect">
            <a:avLst/>
          </a:prstGeom>
          <a:noFill/>
          <a:ln w="0">
            <a:noFill/>
          </a:ln>
        </p:spPr>
        <p:txBody>
          <a:bodyPr lIns="90000" rIns="90000" tIns="45000" bIns="45000" anchor="t">
            <a:spAutoFit/>
          </a:bodyPr>
          <a:p>
            <a:r>
              <a:rPr lang="en-US" sz="700" b="0" u="none" strike="noStrike">
                <a:solidFill>
                  <a:srgbClr val="003248"/>
                </a:solidFill>
                <a:effectLst/>
                <a:uFillTx/>
                <a:latin typeface="Arial"/>
                <a:ea typeface="Arial"/>
              </a:rPr>
              <a:t>Trace One 2020, All rights reserved</a:t>
            </a:r>
            <a:r>
              <a:rPr lang="en-US" sz="700" b="0" u="none" strike="noStrike">
                <a:solidFill>
                  <a:srgbClr val="003248"/>
                </a:solidFill>
                <a:effectLst/>
                <a:uFillTx/>
                <a:latin typeface="Arial"/>
                <a:ea typeface="Arial"/>
              </a:rPr>
              <a:t>.</a:t>
            </a:r>
            <a:endParaRPr lang="en-US" sz="700" b="0" u="none" strike="noStrike">
              <a:solidFill>
                <a:srgbClr val="000000"/>
              </a:solidFill>
              <a:effectLst/>
              <a:uFillTx/>
              <a:latin typeface="Arial"/>
            </a:endParaRPr>
          </a:p>
          <a:p>
            <a:r>
              <a:rPr lang="en-US" sz="700" b="0" u="none" strike="noStrike">
                <a:solidFill>
                  <a:srgbClr val="003248"/>
                </a:solidFill>
                <a:effectLst/>
                <a:uFillTx/>
                <a:latin typeface="Arial"/>
                <a:ea typeface="Arial"/>
              </a:rPr>
              <a:t>Trace One and Eqos are trademarks of Trace One. All other company and product names October be trademarks of their respective owners and are used for product and company identification only.  No part of this document October be reproduced, distributed or transmitted in any form or by any means, including photocopying and recording, without the express written permission of Trace One.  Trace One has made reasonable effort to keep the information in this document current and accurate as of the date of publication or revision. However, Trace One does not guarantee or imply that this document is error free or accurate with regard to any particular specification. Trace One does not assume any liability resulting from the use of the information in this document</a:t>
            </a:r>
            <a:r>
              <a:rPr lang="en-US" sz="700" b="0" u="none" strike="noStrike">
                <a:solidFill>
                  <a:srgbClr val="003248"/>
                </a:solidFill>
                <a:effectLst/>
                <a:uFillTx/>
                <a:latin typeface="Arial"/>
                <a:ea typeface="Arial"/>
              </a:rPr>
              <a:t>.</a:t>
            </a:r>
            <a:endParaRPr lang="en-US" sz="700" b="0" u="none" strike="noStrike">
              <a:solidFill>
                <a:srgbClr val="000000"/>
              </a:solidFill>
              <a:effectLst/>
              <a:uFillTx/>
              <a:latin typeface="Arial"/>
            </a:endParaRPr>
          </a:p>
        </p:txBody>
      </p:sp>
      <p:sp>
        <p:nvSpPr>
          <p:cNvPr id="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4"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3"/>
    <p:sldLayoutId id="2147483650" r:id="rId4"/>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2"/>
    <p:sldLayoutId id="2147483653" r:id="rId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10.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slideLayout" Target="../slideLayouts/slideLayout3.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1" name=""/>
          <p:cNvSpPr txBox="1"/>
          <p:nvPr/>
        </p:nvSpPr>
        <p:spPr>
          <a:xfrm>
            <a:off x="395280" y="2314440"/>
            <a:ext cx="5198760" cy="1341000"/>
          </a:xfrm>
          <a:prstGeom prst="rect">
            <a:avLst/>
          </a:prstGeom>
          <a:noFill/>
          <a:ln w="0">
            <a:noFill/>
          </a:ln>
        </p:spPr>
        <p:txBody>
          <a:bodyPr lIns="90000" rIns="90000" tIns="45000" bIns="45000" anchor="t">
            <a:normAutofit/>
          </a:bodyPr>
          <a:p>
            <a:r>
              <a:rPr lang="en-US" sz="3600" b="0" u="none" strike="noStrike">
                <a:solidFill>
                  <a:srgbClr val="003248"/>
                </a:solidFill>
                <a:effectLst/>
                <a:uFillTx/>
                <a:latin typeface="Arial"/>
                <a:ea typeface="Arial"/>
              </a:rPr>
              <a:t>{{</a:t>
            </a:r>
            <a:r>
              <a:rPr lang="en-US" sz="3600" b="0" u="none" strike="noStrike">
                <a:solidFill>
                  <a:srgbClr val="003248"/>
                </a:solidFill>
                <a:effectLst/>
                <a:uFillTx/>
                <a:latin typeface="Arial"/>
                <a:ea typeface="Arial"/>
              </a:rPr>
              <a:t>month</a:t>
            </a:r>
            <a:r>
              <a:rPr lang="en-US" sz="3600" b="0" u="none" strike="noStrike">
                <a:solidFill>
                  <a:srgbClr val="003248"/>
                </a:solidFill>
                <a:effectLst/>
                <a:uFillTx/>
                <a:latin typeface="Arial"/>
                <a:ea typeface="Arial"/>
              </a:rPr>
              <a:t>}} </a:t>
            </a:r>
            <a:r>
              <a:rPr lang="en-US" sz="3600" b="0" u="none" strike="noStrike">
                <a:solidFill>
                  <a:srgbClr val="003248"/>
                </a:solidFill>
                <a:effectLst/>
                <a:uFillTx/>
                <a:latin typeface="Arial"/>
                <a:ea typeface="Arial"/>
              </a:rPr>
              <a:t>Customer Support Overview</a:t>
            </a:r>
            <a:r>
              <a:rPr lang="en-US" sz="3600" b="0" u="none" strike="noStrike">
                <a:solidFill>
                  <a:srgbClr val="003248"/>
                </a:solidFill>
                <a:effectLst/>
                <a:uFillTx/>
                <a:latin typeface="Arial"/>
                <a:ea typeface="Arial"/>
              </a:rPr>
              <a:t> </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2" name=""/>
          <p:cNvSpPr txBox="1"/>
          <p:nvPr/>
        </p:nvSpPr>
        <p:spPr>
          <a:xfrm>
            <a:off x="395280" y="2314440"/>
            <a:ext cx="5198760" cy="1341000"/>
          </a:xfrm>
          <a:prstGeom prst="rect">
            <a:avLst/>
          </a:prstGeom>
          <a:noFill/>
          <a:ln w="0">
            <a:noFill/>
          </a:ln>
        </p:spPr>
        <p:txBody>
          <a:bodyPr lIns="90000" rIns="90000" tIns="45000" bIns="45000" anchor="t">
            <a:normAutofit fontScale="85000" lnSpcReduction="9999"/>
          </a:bodyPr>
          <a:p>
            <a:r>
              <a:rPr lang="en-US" sz="3600" b="1" u="none" strike="noStrike">
                <a:solidFill>
                  <a:srgbClr val="003248"/>
                </a:solidFill>
                <a:effectLst/>
                <a:uFillTx/>
                <a:latin typeface="Helvetica-Bold"/>
                <a:ea typeface="Helvetica-Bold"/>
              </a:rPr>
              <a:t>Customer Support Retailer User activity overview</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
          <p:cNvSpPr txBox="1"/>
          <p:nvPr/>
        </p:nvSpPr>
        <p:spPr>
          <a:xfrm>
            <a:off x="459360" y="188640"/>
            <a:ext cx="8283240" cy="1299600"/>
          </a:xfrm>
          <a:prstGeom prst="rect">
            <a:avLst/>
          </a:prstGeom>
          <a:noFill/>
          <a:ln w="0">
            <a:noFill/>
          </a:ln>
        </p:spPr>
        <p:txBody>
          <a:bodyPr lIns="90000" rIns="90000" tIns="45000" bIns="45000" anchor="t">
            <a:normAutofit/>
          </a:bodyPr>
          <a:p>
            <a:r>
              <a:rPr lang="en-US" sz="2400" b="1" u="none" spc="-99" strike="noStrike">
                <a:solidFill>
                  <a:srgbClr val="2d5769"/>
                </a:solidFill>
                <a:effectLst/>
                <a:uFillTx/>
                <a:latin typeface="Helvetica-Bold"/>
                <a:ea typeface="Helvetica-Bold"/>
              </a:rPr>
              <a:t>Support Activity Overview  </a:t>
            </a:r>
            <a:r>
              <a:rPr lang="en-US" sz="2000" b="1" u="none" spc="-99" strike="noStrike">
                <a:solidFill>
                  <a:srgbClr val="2d5769"/>
                </a:solidFill>
                <a:effectLst/>
                <a:uFillTx/>
                <a:latin typeface="Helvetica-Bold"/>
                <a:ea typeface="Helvetica-Bold"/>
              </a:rPr>
              <a:t>Retailer Users</a:t>
            </a:r>
            <a:endParaRPr lang="en-US" sz="2000" b="0" u="none" strike="noStrike">
              <a:solidFill>
                <a:srgbClr val="000000"/>
              </a:solidFill>
              <a:effectLst/>
              <a:uFillTx/>
              <a:latin typeface="Arial"/>
            </a:endParaRPr>
          </a:p>
        </p:txBody>
      </p:sp>
      <p:sp>
        <p:nvSpPr>
          <p:cNvPr id="24" name=""/>
          <p:cNvSpPr txBox="1"/>
          <p:nvPr/>
        </p:nvSpPr>
        <p:spPr>
          <a:xfrm>
            <a:off x="4893480" y="1094040"/>
            <a:ext cx="3713400" cy="2561400"/>
          </a:xfrm>
          <a:prstGeom prst="rect">
            <a:avLst/>
          </a:prstGeom>
          <a:noFill/>
          <a:ln w="0">
            <a:noFill/>
          </a:ln>
        </p:spPr>
        <p:txBody>
          <a:bodyPr lIns="90000" rIns="90000" tIns="45000" bIns="45000" anchor="t">
            <a:normAutofit/>
          </a:bodyPr>
          <a:p>
            <a:pPr rtl="1">
              <a:lnSpc>
                <a:spcPts val="1800"/>
              </a:lnSpc>
              <a:spcBef>
                <a:spcPts val="300"/>
              </a:spcBef>
              <a:spcAft>
                <a:spcPts val="300"/>
              </a:spcAft>
            </a:pPr>
            <a:r>
              <a:rPr lang="en-US" sz="2000" b="0" u="none" spc="-99" strike="noStrike">
                <a:solidFill>
                  <a:srgbClr val="003248"/>
                </a:solidFill>
                <a:effectLst/>
                <a:uFillTx/>
                <a:latin typeface="Arial"/>
                <a:ea typeface="Arial"/>
              </a:rPr>
              <a:t>Average resolution time</a:t>
            </a:r>
            <a:r>
              <a:rPr lang="en-US" sz="2000" b="0" u="none" spc="-99" strike="noStrike">
                <a:solidFill>
                  <a:srgbClr val="003248"/>
                </a:solidFill>
                <a:effectLst/>
                <a:uFillTx/>
                <a:latin typeface="Arial"/>
                <a:ea typeface="Arial"/>
              </a:rPr>
              <a:t>:</a:t>
            </a:r>
            <a:endParaRPr lang="en-US" sz="2000" b="0" u="none" strike="noStrike">
              <a:solidFill>
                <a:srgbClr val="000000"/>
              </a:solidFill>
              <a:effectLst/>
              <a:uFillTx/>
              <a:latin typeface="Arial"/>
            </a:endParaRPr>
          </a:p>
        </p:txBody>
      </p:sp>
      <p:sp>
        <p:nvSpPr>
          <p:cNvPr id="25" name=""/>
          <p:cNvSpPr txBox="1"/>
          <p:nvPr/>
        </p:nvSpPr>
        <p:spPr>
          <a:xfrm>
            <a:off x="187200" y="6559200"/>
            <a:ext cx="8385120" cy="298800"/>
          </a:xfrm>
          <a:prstGeom prst="rect">
            <a:avLst/>
          </a:prstGeom>
          <a:noFill/>
          <a:ln w="0">
            <a:noFill/>
          </a:ln>
        </p:spPr>
        <p:txBody>
          <a:bodyPr lIns="90000" rIns="90000" tIns="45000" bIns="45000" anchor="t">
            <a:normAutofit/>
          </a:bodyPr>
          <a:p>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r>
              <a:rPr lang="en-US" sz="500" b="0" u="none" strike="noStrike">
                <a:solidFill>
                  <a:srgbClr val="484a52"/>
                </a:solidFill>
                <a:effectLst/>
                <a:uFillTx/>
                <a:latin typeface="CenturyGothic"/>
                <a:ea typeface="CenturyGothic"/>
              </a:rPr>
              <a:t>.</a:t>
            </a:r>
            <a:endParaRPr lang="en-US" sz="500" b="0" u="none" strike="noStrike">
              <a:solidFill>
                <a:srgbClr val="000000"/>
              </a:solidFill>
              <a:effectLst/>
              <a:uFillTx/>
              <a:latin typeface="Arial"/>
            </a:endParaRPr>
          </a:p>
        </p:txBody>
      </p:sp>
      <p:pic>
        <p:nvPicPr>
          <p:cNvPr id="26" name=""/>
          <p:cNvPicPr/>
          <p:nvPr/>
        </p:nvPicPr>
        <p:blipFill>
          <a:blip r:embed="rId1"/>
          <a:stretch/>
        </p:blipFill>
        <p:spPr>
          <a:xfrm>
            <a:off x="7078320" y="6127560"/>
            <a:ext cx="1766520" cy="581040"/>
          </a:xfrm>
          <a:prstGeom prst="rect">
            <a:avLst/>
          </a:prstGeom>
          <a:noFill/>
          <a:ln w="0">
            <a:noFill/>
          </a:ln>
        </p:spPr>
      </p:pic>
      <p:graphicFrame>
        <p:nvGraphicFramePr>
          <p:cNvPr id="27" name=""/>
          <p:cNvGraphicFramePr/>
          <p:nvPr/>
        </p:nvGraphicFramePr>
        <p:xfrm>
          <a:off x="459360" y="1495800"/>
          <a:ext cx="4086720" cy="2077200"/>
        </p:xfrm>
        <a:graphic>
          <a:graphicData uri="http://schemas.openxmlformats.org/drawingml/2006/table">
            <a:tbl>
              <a:tblPr/>
              <a:tblGrid>
                <a:gridCol w="2070720"/>
                <a:gridCol w="2016000"/>
              </a:tblGrid>
              <a:tr h="798840">
                <a:tc>
                  <a:txBody>
                    <a:bodyPr lIns="45720" rIns="45720" anchor="t" anchorCtr="1">
                      <a:noAutofit/>
                    </a:bodyPr>
                    <a:p>
                      <a:pPr algn="ctr"/>
                      <a:r>
                        <a:rPr lang="en-US" sz="2500" b="1" u="none" strike="noStrike">
                          <a:solidFill>
                            <a:srgbClr val="ffffff"/>
                          </a:solidFill>
                          <a:effectLst/>
                          <a:uFillTx/>
                          <a:latin typeface="Helvetica-Bold"/>
                          <a:ea typeface="Helvetica-Bold"/>
                        </a:rPr>
                        <a:t>{{prev_month}}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chorCtr="1">
                      <a:noAutofit/>
                    </a:bodyPr>
                    <a:p>
                      <a:pPr algn="ctr"/>
                      <a:r>
                        <a:rPr lang="en-US" sz="2500" b="1" u="none" strike="noStrike">
                          <a:solidFill>
                            <a:srgbClr val="ffffff"/>
                          </a:solidFill>
                          <a:effectLst/>
                          <a:uFillTx/>
                          <a:latin typeface="Helvetica-Bold"/>
                          <a:ea typeface="Helvetica-Bold"/>
                        </a:rPr>
                        <a:t>{{month}}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1770120">
                <a:tc>
                  <a:txBody>
                    <a:bodyPr lIns="45720" rIns="45720" anchor="t" anchorCtr="1">
                      <a:noAutofit/>
                    </a:bodyPr>
                    <a:p>
                      <a:pPr algn="ctr"/>
                      <a:r>
                        <a:rPr lang="en-US" sz="4400" b="0" u="none" strike="noStrike">
                          <a:solidFill>
                            <a:srgbClr val="003248"/>
                          </a:solidFill>
                          <a:effectLst/>
                          <a:uFillTx/>
                          <a:latin typeface="Arial"/>
                          <a:ea typeface="Arial"/>
                        </a:rPr>
                        <a:t>{{re_prev_req}}</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4400" b="0" u="none" strike="noStrike">
                          <a:solidFill>
                            <a:srgbClr val="003248"/>
                          </a:solidFill>
                          <a:effectLst/>
                          <a:uFillTx/>
                          <a:latin typeface="Arial"/>
                          <a:ea typeface="Arial"/>
                        </a:rPr>
                        <a:t>{{re_req}}</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graphicFrame>
        <p:nvGraphicFramePr>
          <p:cNvPr id="28" name=""/>
          <p:cNvGraphicFramePr/>
          <p:nvPr/>
        </p:nvGraphicFramePr>
        <p:xfrm>
          <a:off x="4871160" y="1487880"/>
          <a:ext cx="3974040" cy="2077200"/>
        </p:xfrm>
        <a:graphic>
          <a:graphicData uri="http://schemas.openxmlformats.org/drawingml/2006/table">
            <a:tbl>
              <a:tblPr/>
              <a:tblGrid>
                <a:gridCol w="2073240"/>
                <a:gridCol w="1900800"/>
              </a:tblGrid>
              <a:tr h="798840">
                <a:tc>
                  <a:txBody>
                    <a:bodyPr lIns="45720" rIns="45720" anchor="t" anchorCtr="1">
                      <a:noAutofit/>
                    </a:bodyPr>
                    <a:p>
                      <a:pPr algn="ctr"/>
                      <a:r>
                        <a:rPr lang="en-US" sz="2500" b="1" u="none" strike="noStrike">
                          <a:solidFill>
                            <a:srgbClr val="ffffff"/>
                          </a:solidFill>
                          <a:effectLst/>
                          <a:uFillTx/>
                          <a:latin typeface="Helvetica-Bold"/>
                          <a:ea typeface="Helvetica-Bold"/>
                        </a:rPr>
                        <a:t>{{prev_month}}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chorCtr="1">
                      <a:noAutofit/>
                    </a:bodyPr>
                    <a:p>
                      <a:pPr algn="ctr"/>
                      <a:r>
                        <a:rPr lang="en-US" sz="2500" b="1" u="none" strike="noStrike">
                          <a:solidFill>
                            <a:srgbClr val="ffffff"/>
                          </a:solidFill>
                          <a:effectLst/>
                          <a:uFillTx/>
                          <a:latin typeface="Helvetica-Bold"/>
                          <a:ea typeface="Helvetica-Bold"/>
                        </a:rPr>
                        <a:t>{{month}}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1770120">
                <a:tc>
                  <a:txBody>
                    <a:bodyPr lIns="45720" rIns="45720" anchor="t" anchorCtr="1">
                      <a:noAutofit/>
                    </a:bodyPr>
                    <a:p>
                      <a:pPr algn="ctr"/>
                      <a:r>
                        <a:rPr lang="en-US" sz="4400" b="0" u="none" strike="noStrike">
                          <a:solidFill>
                            <a:srgbClr val="003248"/>
                          </a:solidFill>
                          <a:effectLst/>
                          <a:uFillTx/>
                          <a:latin typeface="Arial"/>
                          <a:ea typeface="Arial"/>
                        </a:rPr>
                        <a:t>{{re_prev_reso}}</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4400" b="0" u="none" strike="noStrike">
                          <a:solidFill>
                            <a:srgbClr val="003248"/>
                          </a:solidFill>
                          <a:effectLst/>
                          <a:uFillTx/>
                          <a:latin typeface="Arial"/>
                          <a:ea typeface="Arial"/>
                        </a:rPr>
                        <a:t>{{re_reso}}</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sp>
        <p:nvSpPr>
          <p:cNvPr id="29" name=""/>
          <p:cNvSpPr txBox="1"/>
          <p:nvPr/>
        </p:nvSpPr>
        <p:spPr>
          <a:xfrm>
            <a:off x="459360" y="1094040"/>
            <a:ext cx="4259160" cy="394200"/>
          </a:xfrm>
          <a:prstGeom prst="rect">
            <a:avLst/>
          </a:prstGeom>
          <a:noFill/>
          <a:ln w="0">
            <a:noFill/>
          </a:ln>
        </p:spPr>
        <p:txBody>
          <a:bodyPr lIns="90000" rIns="90000" tIns="45000" bIns="45000" anchor="t">
            <a:normAutofit/>
          </a:bodyPr>
          <a:p>
            <a:r>
              <a:rPr lang="en-US" sz="2000" b="0" u="none" spc="-99" strike="noStrike">
                <a:solidFill>
                  <a:srgbClr val="003248"/>
                </a:solidFill>
                <a:effectLst/>
                <a:uFillTx/>
                <a:latin typeface="Arial"/>
                <a:ea typeface="Arial"/>
              </a:rPr>
              <a:t>Total requests handled by support</a:t>
            </a:r>
            <a:r>
              <a:rPr lang="en-US" sz="2000" b="0" u="none" spc="-99" strike="noStrike">
                <a:solidFill>
                  <a:srgbClr val="003248"/>
                </a:solidFill>
                <a:effectLst/>
                <a:uFillTx/>
                <a:latin typeface="Arial"/>
                <a:ea typeface="Arial"/>
              </a:rPr>
              <a:t>:</a:t>
            </a:r>
            <a:endParaRPr lang="en-US" sz="2000" b="0" u="none" strike="noStrike">
              <a:solidFill>
                <a:srgbClr val="000000"/>
              </a:solidFill>
              <a:effectLst/>
              <a:uFillTx/>
              <a:latin typeface="Arial"/>
            </a:endParaRPr>
          </a:p>
        </p:txBody>
      </p:sp>
      <p:sp>
        <p:nvSpPr>
          <p:cNvPr id="30" name=""/>
          <p:cNvSpPr txBox="1"/>
          <p:nvPr/>
        </p:nvSpPr>
        <p:spPr>
          <a:xfrm>
            <a:off x="459360" y="3741120"/>
            <a:ext cx="4259160" cy="565200"/>
          </a:xfrm>
          <a:prstGeom prst="rect">
            <a:avLst/>
          </a:prstGeom>
          <a:noFill/>
          <a:ln w="0">
            <a:noFill/>
          </a:ln>
        </p:spPr>
        <p:txBody>
          <a:bodyPr lIns="90000" rIns="90000" tIns="45000" bIns="45000" anchor="t">
            <a:normAutofit/>
          </a:bodyPr>
          <a:p>
            <a:r>
              <a:rPr lang="en-US" sz="2000" b="0" u="none" spc="-99" strike="noStrike">
                <a:solidFill>
                  <a:srgbClr val="003248"/>
                </a:solidFill>
                <a:effectLst/>
                <a:uFillTx/>
                <a:latin typeface="Arial"/>
                <a:ea typeface="Arial"/>
              </a:rPr>
              <a:t>Requests by category type</a:t>
            </a:r>
            <a:r>
              <a:rPr lang="en-US" sz="2000" b="0" u="none" spc="-99" strike="noStrike">
                <a:solidFill>
                  <a:srgbClr val="003248"/>
                </a:solidFill>
                <a:effectLst/>
                <a:uFillTx/>
                <a:latin typeface="Arial"/>
                <a:ea typeface="Arial"/>
              </a:rPr>
              <a:t>:</a:t>
            </a:r>
            <a:endParaRPr lang="en-US" sz="2000" b="0" u="none" strike="noStrike">
              <a:solidFill>
                <a:srgbClr val="000000"/>
              </a:solidFill>
              <a:effectLst/>
              <a:uFillTx/>
              <a:latin typeface="Arial"/>
            </a:endParaRPr>
          </a:p>
        </p:txBody>
      </p:sp>
      <p:graphicFrame>
        <p:nvGraphicFramePr>
          <p:cNvPr id="31" name=""/>
          <p:cNvGraphicFramePr/>
          <p:nvPr/>
        </p:nvGraphicFramePr>
        <p:xfrm>
          <a:off x="459360" y="4087080"/>
          <a:ext cx="5876280" cy="1371240"/>
        </p:xfrm>
        <a:graphic>
          <a:graphicData uri="http://schemas.openxmlformats.org/drawingml/2006/table">
            <a:tbl>
              <a:tblPr/>
              <a:tblGrid>
                <a:gridCol w="5202720"/>
                <a:gridCol w="673560"/>
              </a:tblGrid>
              <a:tr h="670680">
                <a:tc>
                  <a:txBody>
                    <a:bodyPr lIns="7560" rIns="7560" tIns="7560" bIns="7560" anchor="ctr" anchorCtr="1">
                      <a:noAutofit/>
                    </a:bodyPr>
                    <a:p>
                      <a:r>
                        <a:rPr lang="en-US" sz="1100" b="0" u="none" strike="noStrike">
                          <a:solidFill>
                            <a:srgbClr val="003248"/>
                          </a:solidFill>
                          <a:effectLst/>
                          <a:uFillTx/>
                          <a:latin typeface="Arial"/>
                          <a:ea typeface="Arial"/>
                        </a:rPr>
                        <a:t>Support Category</a:t>
                      </a:r>
                      <a:endParaRPr lang="en-US" sz="1100" b="0" u="none" strike="noStrike">
                        <a:solidFill>
                          <a:srgbClr val="000000"/>
                        </a:solidFill>
                        <a:effectLst/>
                        <a:uFillTx/>
                        <a:latin typeface="Arial"/>
                      </a:endParaRPr>
                    </a:p>
                  </a:txBody>
                  <a:tcPr anchor="ctr"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ctr" anchorCtr="1">
                      <a:noAutofit/>
                    </a:bodyPr>
                    <a:p>
                      <a:r>
                        <a:rPr lang="en-US" sz="1100" b="0" u="none" strike="noStrike">
                          <a:solidFill>
                            <a:srgbClr val="003248"/>
                          </a:solidFill>
                          <a:effectLst/>
                          <a:uFillTx/>
                          <a:latin typeface="Arial"/>
                          <a:ea typeface="Arial"/>
                        </a:rPr>
                        <a:t>Count</a:t>
                      </a:r>
                      <a:endParaRPr lang="en-US" sz="1100" b="0" u="none" strike="noStrike">
                        <a:solidFill>
                          <a:srgbClr val="000000"/>
                        </a:solidFill>
                        <a:effectLst/>
                        <a:uFillTx/>
                        <a:latin typeface="Arial"/>
                      </a:endParaRPr>
                    </a:p>
                  </a:txBody>
                  <a:tcPr anchor="ctr"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r h="700560">
                <a:tc>
                  <a:txBody>
                    <a:bodyPr lIns="7560" rIns="7560" tIns="7560" bIns="7560" anchor="ctr" anchorCtr="1">
                      <a:noAutofit/>
                    </a:bodyPr>
                    <a:p>
                      <a:r>
                        <a:rPr lang="en-US" sz="1100" b="0" u="none" strike="noStrike">
                          <a:solidFill>
                            <a:srgbClr val="003248"/>
                          </a:solidFill>
                          <a:effectLst/>
                          <a:uFillTx/>
                          <a:latin typeface="Arial"/>
                          <a:ea typeface="Arial"/>
                        </a:rPr>
                        <a:t>{{table:re_sup_cat}} {{re_cat}}</a:t>
                      </a:r>
                      <a:endParaRPr lang="en-US" sz="1100" b="0" u="none" strike="noStrike">
                        <a:solidFill>
                          <a:srgbClr val="000000"/>
                        </a:solidFill>
                        <a:effectLst/>
                        <a:uFillTx/>
                        <a:latin typeface="Arial"/>
                      </a:endParaRPr>
                    </a:p>
                  </a:txBody>
                  <a:tcPr anchor="ctr"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ctr" anchorCtr="1">
                      <a:noAutofit/>
                    </a:bodyPr>
                    <a:p>
                      <a:pPr algn="ctr"/>
                      <a:r>
                        <a:rPr lang="en-US" sz="1100" b="0" u="none" strike="noStrike">
                          <a:solidFill>
                            <a:srgbClr val="000000"/>
                          </a:solidFill>
                          <a:effectLst/>
                          <a:uFillTx/>
                          <a:latin typeface="Calibri"/>
                          <a:ea typeface="Calibri"/>
                        </a:rPr>
                        <a:t>{{re_cat_count}}</a:t>
                      </a:r>
                      <a:endParaRPr lang="en-US" sz="1100" b="0" u="none" strike="noStrike">
                        <a:solidFill>
                          <a:srgbClr val="000000"/>
                        </a:solidFill>
                        <a:effectLst/>
                        <a:uFillTx/>
                        <a:latin typeface="Arial"/>
                      </a:endParaRPr>
                    </a:p>
                  </a:txBody>
                  <a:tcPr anchor="ctr"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bl>
          </a:graphicData>
        </a:graphic>
      </p:graphicFrame>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 name=""/>
          <p:cNvSpPr txBox="1"/>
          <p:nvPr/>
        </p:nvSpPr>
        <p:spPr>
          <a:xfrm>
            <a:off x="459360" y="188640"/>
            <a:ext cx="8283240" cy="893160"/>
          </a:xfrm>
          <a:prstGeom prst="rect">
            <a:avLst/>
          </a:prstGeom>
          <a:noFill/>
          <a:ln w="0">
            <a:noFill/>
          </a:ln>
        </p:spPr>
        <p:txBody>
          <a:bodyPr lIns="90000" rIns="90000" tIns="45000" bIns="45000" anchor="t">
            <a:normAutofit/>
          </a:bodyPr>
          <a:p>
            <a:r>
              <a:rPr lang="en-US" sz="2400" b="1" u="none" spc="-99" strike="noStrike">
                <a:solidFill>
                  <a:srgbClr val="2d5769"/>
                </a:solidFill>
                <a:effectLst/>
                <a:uFillTx/>
                <a:latin typeface="Helvetica-Bold"/>
                <a:ea typeface="Helvetica-Bold"/>
              </a:rPr>
              <a:t>Support Activity Overview  </a:t>
            </a:r>
            <a:r>
              <a:rPr lang="en-US" sz="2000" b="1" u="none" spc="-99" strike="noStrike">
                <a:solidFill>
                  <a:srgbClr val="2d5769"/>
                </a:solidFill>
                <a:effectLst/>
                <a:uFillTx/>
                <a:latin typeface="Helvetica-Bold"/>
                <a:ea typeface="Helvetica-Bold"/>
              </a:rPr>
              <a:t>Retailer Users - Satisfaction scores</a:t>
            </a:r>
            <a:endParaRPr lang="en-US" sz="2000" b="0" u="none" strike="noStrike">
              <a:solidFill>
                <a:srgbClr val="000000"/>
              </a:solidFill>
              <a:effectLst/>
              <a:uFillTx/>
              <a:latin typeface="Arial"/>
            </a:endParaRPr>
          </a:p>
        </p:txBody>
      </p:sp>
      <p:sp>
        <p:nvSpPr>
          <p:cNvPr id="33" name=""/>
          <p:cNvSpPr txBox="1"/>
          <p:nvPr/>
        </p:nvSpPr>
        <p:spPr>
          <a:xfrm>
            <a:off x="187200" y="6559200"/>
            <a:ext cx="8385120" cy="298800"/>
          </a:xfrm>
          <a:prstGeom prst="rect">
            <a:avLst/>
          </a:prstGeom>
          <a:noFill/>
          <a:ln w="0">
            <a:noFill/>
          </a:ln>
        </p:spPr>
        <p:txBody>
          <a:bodyPr lIns="90000" rIns="90000" tIns="45000" bIns="45000" anchor="t">
            <a:normAutofit/>
          </a:bodyPr>
          <a:p>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r>
              <a:rPr lang="en-US" sz="500" b="0" u="none" strike="noStrike">
                <a:solidFill>
                  <a:srgbClr val="484a52"/>
                </a:solidFill>
                <a:effectLst/>
                <a:uFillTx/>
                <a:latin typeface="CenturyGothic"/>
                <a:ea typeface="CenturyGothic"/>
              </a:rPr>
              <a:t>.</a:t>
            </a:r>
            <a:endParaRPr lang="en-US" sz="500" b="0" u="none" strike="noStrike">
              <a:solidFill>
                <a:srgbClr val="000000"/>
              </a:solidFill>
              <a:effectLst/>
              <a:uFillTx/>
              <a:latin typeface="Arial"/>
            </a:endParaRPr>
          </a:p>
        </p:txBody>
      </p:sp>
      <p:sp>
        <p:nvSpPr>
          <p:cNvPr id="34" name=""/>
          <p:cNvSpPr/>
          <p:nvPr/>
        </p:nvSpPr>
        <p:spPr>
          <a:xfrm>
            <a:off x="4937760" y="1361880"/>
            <a:ext cx="2466360" cy="1420920"/>
          </a:xfrm>
          <a:custGeom>
            <a:avLst/>
            <a:gdLst/>
            <a:ahLst/>
            <a:rect l="0" t="0" r="r" b="b"/>
            <a:pathLst>
              <a:path w="6851" h="3947">
                <a:moveTo>
                  <a:pt x="0" y="0"/>
                </a:moveTo>
                <a:lnTo>
                  <a:pt x="6851" y="0"/>
                </a:lnTo>
                <a:lnTo>
                  <a:pt x="6851" y="3947"/>
                </a:lnTo>
                <a:lnTo>
                  <a:pt x="0" y="3947"/>
                </a:lnTo>
                <a:lnTo>
                  <a:pt x="0" y="0"/>
                </a:lnTo>
                <a:close/>
              </a:path>
            </a:pathLst>
          </a:custGeom>
          <a:solidFill>
            <a:srgbClr val="ffffff"/>
          </a:solidFill>
          <a:ln w="3240">
            <a:solidFill>
              <a:srgbClr val="ffffff"/>
            </a:solidFill>
            <a:round/>
          </a:ln>
        </p:spPr>
        <p:txBody>
          <a:bodyPr tIns="46440" bIns="46440" anchor="t">
            <a:noAutofit/>
          </a:bodyPr>
          <a:p>
            <a:endParaRPr lang="en-US" sz="1800" b="0" u="none" strike="noStrike">
              <a:solidFill>
                <a:srgbClr val="000000"/>
              </a:solidFill>
              <a:effectLst/>
              <a:uFillTx/>
              <a:latin typeface="Arial"/>
            </a:endParaRPr>
          </a:p>
        </p:txBody>
      </p:sp>
      <p:pic>
        <p:nvPicPr>
          <p:cNvPr id="35" name=""/>
          <p:cNvPicPr/>
          <p:nvPr/>
        </p:nvPicPr>
        <p:blipFill>
          <a:blip r:embed="rId1"/>
          <a:stretch/>
        </p:blipFill>
        <p:spPr>
          <a:xfrm>
            <a:off x="7078320" y="6127560"/>
            <a:ext cx="1766520" cy="581040"/>
          </a:xfrm>
          <a:prstGeom prst="rect">
            <a:avLst/>
          </a:prstGeom>
          <a:noFill/>
          <a:ln w="0">
            <a:noFill/>
          </a:ln>
        </p:spPr>
      </p:pic>
      <p:sp>
        <p:nvSpPr>
          <p:cNvPr id="36" name=""/>
          <p:cNvSpPr/>
          <p:nvPr/>
        </p:nvSpPr>
        <p:spPr>
          <a:xfrm>
            <a:off x="4157640" y="3429000"/>
            <a:ext cx="1768320" cy="411840"/>
          </a:xfrm>
          <a:custGeom>
            <a:avLst/>
            <a:gdLst/>
            <a:ahLst/>
            <a:rect l="0" t="0" r="r" b="b"/>
            <a:pathLst>
              <a:path w="4912" h="1144">
                <a:moveTo>
                  <a:pt x="0" y="0"/>
                </a:moveTo>
                <a:lnTo>
                  <a:pt x="4912" y="0"/>
                </a:lnTo>
                <a:lnTo>
                  <a:pt x="4912" y="1144"/>
                </a:lnTo>
                <a:lnTo>
                  <a:pt x="0" y="1144"/>
                </a:lnTo>
                <a:lnTo>
                  <a:pt x="0" y="0"/>
                </a:lnTo>
                <a:close/>
              </a:path>
            </a:pathLst>
          </a:custGeom>
          <a:solidFill>
            <a:srgbClr val="ffffff"/>
          </a:solidFill>
          <a:ln w="3240">
            <a:solidFill>
              <a:srgbClr val="ffffff"/>
            </a:solidFill>
            <a:round/>
          </a:ln>
        </p:spPr>
        <p:txBody>
          <a:bodyPr tIns="46440" bIns="46440" anchor="t">
            <a:noAutofit/>
          </a:bodyPr>
          <a:p>
            <a:endParaRPr lang="en-US" sz="1800" b="0" u="none" strike="noStrike">
              <a:solidFill>
                <a:srgbClr val="000000"/>
              </a:solidFill>
              <a:effectLst/>
              <a:uFillTx/>
              <a:latin typeface="Arial"/>
            </a:endParaRPr>
          </a:p>
        </p:txBody>
      </p:sp>
      <p:graphicFrame>
        <p:nvGraphicFramePr>
          <p:cNvPr id="37" name=""/>
          <p:cNvGraphicFramePr/>
          <p:nvPr/>
        </p:nvGraphicFramePr>
        <p:xfrm>
          <a:off x="303840" y="1081440"/>
          <a:ext cx="5694120" cy="4255200"/>
        </p:xfrm>
        <a:graphic>
          <a:graphicData uri="http://schemas.openxmlformats.org/drawingml/2006/table">
            <a:tbl>
              <a:tblPr/>
              <a:tblGrid>
                <a:gridCol w="1423440"/>
                <a:gridCol w="1423440"/>
                <a:gridCol w="1423440"/>
                <a:gridCol w="1423800"/>
              </a:tblGrid>
              <a:tr h="1792800">
                <a:tc>
                  <a:txBody>
                    <a:bodyPr lIns="45720" rIns="45720" anchor="t" anchorCtr="1">
                      <a:noAutofit/>
                    </a:bodyPr>
                    <a:p>
                      <a:pPr algn="ctr"/>
                      <a:r>
                        <a:rPr lang="en-US" sz="4000" b="1" u="none" strike="noStrike">
                          <a:solidFill>
                            <a:srgbClr val="ffffff"/>
                          </a:solidFill>
                          <a:effectLst/>
                          <a:uFillTx/>
                          <a:latin typeface="Helvetica-Bold"/>
                          <a:ea typeface="Helvetica-Bold"/>
                        </a:rPr>
                        <a:t>{{prev_month}}</a:t>
                      </a:r>
                      <a:endParaRPr lang="en-US" sz="40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chorCtr="1">
                      <a:noAutofit/>
                    </a:bodyPr>
                    <a:p>
                      <a:endParaRPr lang="en-US" sz="1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chorCtr="1">
                      <a:noAutofit/>
                    </a:bodyPr>
                    <a:p>
                      <a:pPr algn="ctr"/>
                      <a:r>
                        <a:rPr lang="en-US" sz="4000" b="1" u="none" strike="noStrike">
                          <a:solidFill>
                            <a:srgbClr val="ffffff"/>
                          </a:solidFill>
                          <a:effectLst/>
                          <a:uFillTx/>
                          <a:latin typeface="Helvetica-Bold"/>
                          <a:ea typeface="Helvetica-Bold"/>
                        </a:rPr>
                        <a:t>{{month}}</a:t>
                      </a:r>
                      <a:endParaRPr lang="en-US" sz="40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chorCtr="1">
                      <a:noAutofit/>
                    </a:bodyPr>
                    <a:p>
                      <a:endParaRPr lang="en-US" sz="1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600840">
                <a:tc>
                  <a:txBody>
                    <a:bodyPr lIns="45720" rIns="45720" anchor="t" anchorCtr="1">
                      <a:noAutofit/>
                    </a:bodyPr>
                    <a:p>
                      <a:pPr algn="ctr"/>
                      <a:r>
                        <a:rPr lang="en-US" sz="2000" b="0" u="none" strike="noStrike">
                          <a:solidFill>
                            <a:srgbClr val="003248"/>
                          </a:solidFill>
                          <a:effectLst/>
                          <a:uFillTx/>
                          <a:latin typeface="Arial"/>
                          <a:ea typeface="Arial"/>
                        </a:rPr>
                        <a:t>Good</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2000" b="0" u="none" strike="noStrike">
                          <a:solidFill>
                            <a:srgbClr val="003248"/>
                          </a:solidFill>
                          <a:effectLst/>
                          <a:uFillTx/>
                          <a:latin typeface="Arial"/>
                          <a:ea typeface="Arial"/>
                        </a:rPr>
                        <a:t>Good with Comment</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2000" b="0" u="none" strike="noStrike">
                          <a:solidFill>
                            <a:srgbClr val="003248"/>
                          </a:solidFill>
                          <a:effectLst/>
                          <a:uFillTx/>
                          <a:latin typeface="Arial"/>
                          <a:ea typeface="Arial"/>
                        </a:rPr>
                        <a:t>Good</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2000" b="0" u="none" strike="noStrike">
                          <a:solidFill>
                            <a:srgbClr val="003248"/>
                          </a:solidFill>
                          <a:effectLst/>
                          <a:uFillTx/>
                          <a:latin typeface="Arial"/>
                          <a:ea typeface="Arial"/>
                        </a:rPr>
                        <a:t>Good with Comment</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r h="2329560">
                <a:tc>
                  <a:txBody>
                    <a:bodyPr lIns="45720" rIns="45720" anchor="t" anchorCtr="1">
                      <a:noAutofit/>
                    </a:bodyPr>
                    <a:p>
                      <a:pPr algn="ctr"/>
                      <a:r>
                        <a:rPr lang="en-US" sz="4400" b="0" u="none" strike="noStrike">
                          <a:solidFill>
                            <a:srgbClr val="003248"/>
                          </a:solidFill>
                          <a:effectLst/>
                          <a:uFillTx/>
                          <a:latin typeface="Arial"/>
                          <a:ea typeface="Arial"/>
                        </a:rPr>
                        <a:t>{{re_prev_sat}}</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4400" b="0" u="none" strike="noStrike">
                          <a:solidFill>
                            <a:srgbClr val="003248"/>
                          </a:solidFill>
                          <a:effectLst/>
                          <a:uFillTx/>
                          <a:latin typeface="Arial"/>
                          <a:ea typeface="Arial"/>
                        </a:rPr>
                        <a:t>{{re_prev _sat_c}}</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4400" b="0" u="none" strike="noStrike">
                          <a:solidFill>
                            <a:srgbClr val="003248"/>
                          </a:solidFill>
                          <a:effectLst/>
                          <a:uFillTx/>
                          <a:latin typeface="Arial"/>
                          <a:ea typeface="Arial"/>
                        </a:rPr>
                        <a:t>{{re_sat}}</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4400" b="0" u="none" strike="noStrike">
                          <a:solidFill>
                            <a:srgbClr val="003248"/>
                          </a:solidFill>
                          <a:effectLst/>
                          <a:uFillTx/>
                          <a:latin typeface="Arial"/>
                          <a:ea typeface="Arial"/>
                        </a:rPr>
                        <a:t>{{re_sat_c}}</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38" name=""/>
          <p:cNvSpPr txBox="1"/>
          <p:nvPr/>
        </p:nvSpPr>
        <p:spPr>
          <a:xfrm>
            <a:off x="395280" y="2314440"/>
            <a:ext cx="5198760" cy="1341000"/>
          </a:xfrm>
          <a:prstGeom prst="rect">
            <a:avLst/>
          </a:prstGeom>
          <a:noFill/>
          <a:ln w="0">
            <a:noFill/>
          </a:ln>
        </p:spPr>
        <p:txBody>
          <a:bodyPr lIns="90000" rIns="90000" tIns="45000" bIns="45000" anchor="t">
            <a:normAutofit fontScale="85000" lnSpcReduction="9999"/>
          </a:bodyPr>
          <a:p>
            <a:r>
              <a:rPr lang="en-US" sz="3600" b="1" u="none" strike="noStrike">
                <a:solidFill>
                  <a:srgbClr val="003248"/>
                </a:solidFill>
                <a:effectLst/>
                <a:uFillTx/>
                <a:latin typeface="Helvetica-Bold"/>
                <a:ea typeface="Helvetica-Bold"/>
              </a:rPr>
              <a:t>Customer Support Supplier Users activity overview</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
          <p:cNvSpPr txBox="1"/>
          <p:nvPr/>
        </p:nvSpPr>
        <p:spPr>
          <a:xfrm>
            <a:off x="459360" y="188640"/>
            <a:ext cx="8283240" cy="1299600"/>
          </a:xfrm>
          <a:prstGeom prst="rect">
            <a:avLst/>
          </a:prstGeom>
          <a:noFill/>
          <a:ln w="0">
            <a:noFill/>
          </a:ln>
        </p:spPr>
        <p:txBody>
          <a:bodyPr lIns="90000" rIns="90000" tIns="45000" bIns="45000" anchor="t">
            <a:normAutofit/>
          </a:bodyPr>
          <a:p>
            <a:r>
              <a:rPr lang="en-US" sz="2400" b="1" u="none" spc="-99" strike="noStrike">
                <a:solidFill>
                  <a:srgbClr val="2d5769"/>
                </a:solidFill>
                <a:effectLst/>
                <a:uFillTx/>
                <a:latin typeface="Helvetica-Bold"/>
                <a:ea typeface="Helvetica-Bold"/>
              </a:rPr>
              <a:t>Support Activity Overview  </a:t>
            </a:r>
            <a:r>
              <a:rPr lang="en-US" sz="2000" b="1" u="none" spc="-99" strike="noStrike">
                <a:solidFill>
                  <a:srgbClr val="2d5769"/>
                </a:solidFill>
                <a:effectLst/>
                <a:uFillTx/>
                <a:latin typeface="Helvetica-Bold"/>
                <a:ea typeface="Helvetica-Bold"/>
              </a:rPr>
              <a:t>Supplier Users</a:t>
            </a:r>
            <a:endParaRPr lang="en-US" sz="2000" b="0" u="none" strike="noStrike">
              <a:solidFill>
                <a:srgbClr val="000000"/>
              </a:solidFill>
              <a:effectLst/>
              <a:uFillTx/>
              <a:latin typeface="Arial"/>
            </a:endParaRPr>
          </a:p>
        </p:txBody>
      </p:sp>
      <p:sp>
        <p:nvSpPr>
          <p:cNvPr id="40" name=""/>
          <p:cNvSpPr txBox="1"/>
          <p:nvPr/>
        </p:nvSpPr>
        <p:spPr>
          <a:xfrm>
            <a:off x="5029560" y="1094040"/>
            <a:ext cx="3713400" cy="2561400"/>
          </a:xfrm>
          <a:prstGeom prst="rect">
            <a:avLst/>
          </a:prstGeom>
          <a:noFill/>
          <a:ln w="0">
            <a:noFill/>
          </a:ln>
        </p:spPr>
        <p:txBody>
          <a:bodyPr lIns="90000" rIns="90000" tIns="45000" bIns="45000" anchor="t">
            <a:normAutofit/>
          </a:bodyPr>
          <a:p>
            <a:pPr rtl="1">
              <a:lnSpc>
                <a:spcPts val="1800"/>
              </a:lnSpc>
              <a:spcBef>
                <a:spcPts val="300"/>
              </a:spcBef>
              <a:spcAft>
                <a:spcPts val="300"/>
              </a:spcAft>
            </a:pPr>
            <a:r>
              <a:rPr lang="en-US" sz="2000" b="0" u="none" spc="-99" strike="noStrike">
                <a:solidFill>
                  <a:srgbClr val="003248"/>
                </a:solidFill>
                <a:effectLst/>
                <a:uFillTx/>
                <a:latin typeface="Arial"/>
                <a:ea typeface="Arial"/>
              </a:rPr>
              <a:t>Average resolution time</a:t>
            </a:r>
            <a:r>
              <a:rPr lang="en-US" sz="2000" b="0" u="none" spc="-99" strike="noStrike">
                <a:solidFill>
                  <a:srgbClr val="003248"/>
                </a:solidFill>
                <a:effectLst/>
                <a:uFillTx/>
                <a:latin typeface="Arial"/>
                <a:ea typeface="Arial"/>
              </a:rPr>
              <a:t>:</a:t>
            </a:r>
            <a:endParaRPr lang="en-US" sz="2000" b="0" u="none" strike="noStrike">
              <a:solidFill>
                <a:srgbClr val="000000"/>
              </a:solidFill>
              <a:effectLst/>
              <a:uFillTx/>
              <a:latin typeface="Arial"/>
            </a:endParaRPr>
          </a:p>
        </p:txBody>
      </p:sp>
      <p:sp>
        <p:nvSpPr>
          <p:cNvPr id="41" name=""/>
          <p:cNvSpPr txBox="1"/>
          <p:nvPr/>
        </p:nvSpPr>
        <p:spPr>
          <a:xfrm>
            <a:off x="187200" y="6559200"/>
            <a:ext cx="8385120" cy="298800"/>
          </a:xfrm>
          <a:prstGeom prst="rect">
            <a:avLst/>
          </a:prstGeom>
          <a:noFill/>
          <a:ln w="0">
            <a:noFill/>
          </a:ln>
        </p:spPr>
        <p:txBody>
          <a:bodyPr lIns="90000" rIns="90000" tIns="45000" bIns="45000" anchor="t">
            <a:normAutofit/>
          </a:bodyPr>
          <a:p>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r>
              <a:rPr lang="en-US" sz="500" b="0" u="none" strike="noStrike">
                <a:solidFill>
                  <a:srgbClr val="484a52"/>
                </a:solidFill>
                <a:effectLst/>
                <a:uFillTx/>
                <a:latin typeface="CenturyGothic"/>
                <a:ea typeface="CenturyGothic"/>
              </a:rPr>
              <a:t>.</a:t>
            </a:r>
            <a:endParaRPr lang="en-US" sz="500" b="0" u="none" strike="noStrike">
              <a:solidFill>
                <a:srgbClr val="000000"/>
              </a:solidFill>
              <a:effectLst/>
              <a:uFillTx/>
              <a:latin typeface="Arial"/>
            </a:endParaRPr>
          </a:p>
        </p:txBody>
      </p:sp>
      <p:pic>
        <p:nvPicPr>
          <p:cNvPr id="42" name=""/>
          <p:cNvPicPr/>
          <p:nvPr/>
        </p:nvPicPr>
        <p:blipFill>
          <a:blip r:embed="rId1"/>
          <a:stretch/>
        </p:blipFill>
        <p:spPr>
          <a:xfrm>
            <a:off x="7078320" y="6127560"/>
            <a:ext cx="1766520" cy="581040"/>
          </a:xfrm>
          <a:prstGeom prst="rect">
            <a:avLst/>
          </a:prstGeom>
          <a:noFill/>
          <a:ln w="0">
            <a:noFill/>
          </a:ln>
        </p:spPr>
      </p:pic>
      <p:graphicFrame>
        <p:nvGraphicFramePr>
          <p:cNvPr id="43" name=""/>
          <p:cNvGraphicFramePr/>
          <p:nvPr/>
        </p:nvGraphicFramePr>
        <p:xfrm>
          <a:off x="611640" y="1501920"/>
          <a:ext cx="4141800" cy="2077200"/>
        </p:xfrm>
        <a:graphic>
          <a:graphicData uri="http://schemas.openxmlformats.org/drawingml/2006/table">
            <a:tbl>
              <a:tblPr/>
              <a:tblGrid>
                <a:gridCol w="2070720"/>
                <a:gridCol w="2071080"/>
              </a:tblGrid>
              <a:tr h="798840">
                <a:tc>
                  <a:txBody>
                    <a:bodyPr lIns="45720" rIns="45720" anchor="t" anchorCtr="1">
                      <a:noAutofit/>
                    </a:bodyPr>
                    <a:p>
                      <a:pPr algn="ctr"/>
                      <a:r>
                        <a:rPr lang="en-US" sz="2500" b="1" u="none" strike="noStrike">
                          <a:solidFill>
                            <a:srgbClr val="ffffff"/>
                          </a:solidFill>
                          <a:effectLst/>
                          <a:uFillTx/>
                          <a:latin typeface="Helvetica-Bold"/>
                          <a:ea typeface="Helvetica-Bold"/>
                        </a:rPr>
                        <a:t>{{prev_month}}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chorCtr="1">
                      <a:noAutofit/>
                    </a:bodyPr>
                    <a:p>
                      <a:pPr algn="ctr"/>
                      <a:r>
                        <a:rPr lang="en-US" sz="2500" b="1" u="none" strike="noStrike">
                          <a:solidFill>
                            <a:srgbClr val="ffffff"/>
                          </a:solidFill>
                          <a:effectLst/>
                          <a:uFillTx/>
                          <a:latin typeface="Helvetica-Bold"/>
                          <a:ea typeface="Helvetica-Bold"/>
                        </a:rPr>
                        <a:t>{{month}}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1770120">
                <a:tc>
                  <a:txBody>
                    <a:bodyPr lIns="45720" rIns="45720" anchor="t" anchorCtr="1">
                      <a:noAutofit/>
                    </a:bodyPr>
                    <a:p>
                      <a:pPr algn="ctr"/>
                      <a:r>
                        <a:rPr lang="en-US" sz="4400" b="0" u="none" strike="noStrike">
                          <a:solidFill>
                            <a:srgbClr val="003248"/>
                          </a:solidFill>
                          <a:effectLst/>
                          <a:uFillTx/>
                          <a:latin typeface="Arial"/>
                          <a:ea typeface="Arial"/>
                        </a:rPr>
                        <a:t>{{su_prev_req}}</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4400" b="0" u="none" strike="noStrike">
                          <a:solidFill>
                            <a:srgbClr val="003248"/>
                          </a:solidFill>
                          <a:effectLst/>
                          <a:uFillTx/>
                          <a:latin typeface="Arial"/>
                          <a:ea typeface="Arial"/>
                        </a:rPr>
                        <a:t>{{su_req}}</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graphicFrame>
        <p:nvGraphicFramePr>
          <p:cNvPr id="44" name=""/>
          <p:cNvGraphicFramePr/>
          <p:nvPr/>
        </p:nvGraphicFramePr>
        <p:xfrm>
          <a:off x="5023440" y="1496160"/>
          <a:ext cx="3946320" cy="2077200"/>
        </p:xfrm>
        <a:graphic>
          <a:graphicData uri="http://schemas.openxmlformats.org/drawingml/2006/table">
            <a:tbl>
              <a:tblPr/>
              <a:tblGrid>
                <a:gridCol w="1934280"/>
                <a:gridCol w="2012040"/>
              </a:tblGrid>
              <a:tr h="798840">
                <a:tc>
                  <a:txBody>
                    <a:bodyPr lIns="45720" rIns="45720" anchor="t" anchorCtr="1">
                      <a:noAutofit/>
                    </a:bodyPr>
                    <a:p>
                      <a:pPr algn="ctr"/>
                      <a:r>
                        <a:rPr lang="en-US" sz="2500" b="1" u="none" strike="noStrike">
                          <a:solidFill>
                            <a:srgbClr val="ffffff"/>
                          </a:solidFill>
                          <a:effectLst/>
                          <a:uFillTx/>
                          <a:latin typeface="Helvetica-Bold"/>
                          <a:ea typeface="Helvetica-Bold"/>
                        </a:rPr>
                        <a:t>{{prev_month}}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chorCtr="1">
                      <a:noAutofit/>
                    </a:bodyPr>
                    <a:p>
                      <a:pPr algn="ctr"/>
                      <a:r>
                        <a:rPr lang="en-US" sz="2500" b="1" u="none" strike="noStrike">
                          <a:solidFill>
                            <a:srgbClr val="ffffff"/>
                          </a:solidFill>
                          <a:effectLst/>
                          <a:uFillTx/>
                          <a:latin typeface="Helvetica-Bold"/>
                          <a:ea typeface="Helvetica-Bold"/>
                        </a:rPr>
                        <a:t>{{month}}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1770120">
                <a:tc>
                  <a:txBody>
                    <a:bodyPr lIns="45720" rIns="45720" anchor="t" anchorCtr="1">
                      <a:noAutofit/>
                    </a:bodyPr>
                    <a:p>
                      <a:pPr algn="ctr"/>
                      <a:r>
                        <a:rPr lang="en-US" sz="4400" b="0" u="none" strike="noStrike">
                          <a:solidFill>
                            <a:srgbClr val="003248"/>
                          </a:solidFill>
                          <a:effectLst/>
                          <a:uFillTx/>
                          <a:latin typeface="Arial"/>
                          <a:ea typeface="Arial"/>
                        </a:rPr>
                        <a:t>{{su_prev_reso}}</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4400" b="0" u="none" strike="noStrike">
                          <a:solidFill>
                            <a:srgbClr val="003248"/>
                          </a:solidFill>
                          <a:effectLst/>
                          <a:uFillTx/>
                          <a:latin typeface="Arial"/>
                          <a:ea typeface="Arial"/>
                        </a:rPr>
                        <a:t>{{su_reso}}</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sp>
        <p:nvSpPr>
          <p:cNvPr id="45" name=""/>
          <p:cNvSpPr txBox="1"/>
          <p:nvPr/>
        </p:nvSpPr>
        <p:spPr>
          <a:xfrm>
            <a:off x="611640" y="1094040"/>
            <a:ext cx="4259160" cy="397800"/>
          </a:xfrm>
          <a:prstGeom prst="rect">
            <a:avLst/>
          </a:prstGeom>
          <a:noFill/>
          <a:ln w="0">
            <a:noFill/>
          </a:ln>
        </p:spPr>
        <p:txBody>
          <a:bodyPr lIns="90000" rIns="90000" tIns="45000" bIns="45000" anchor="t">
            <a:normAutofit/>
          </a:bodyPr>
          <a:p>
            <a:r>
              <a:rPr lang="en-US" sz="2000" b="0" u="none" spc="-99" strike="noStrike">
                <a:solidFill>
                  <a:srgbClr val="003248"/>
                </a:solidFill>
                <a:effectLst/>
                <a:uFillTx/>
                <a:latin typeface="Arial"/>
                <a:ea typeface="Arial"/>
              </a:rPr>
              <a:t>Total requests handled by support</a:t>
            </a:r>
            <a:r>
              <a:rPr lang="en-US" sz="2000" b="0" u="none" spc="-99" strike="noStrike">
                <a:solidFill>
                  <a:srgbClr val="003248"/>
                </a:solidFill>
                <a:effectLst/>
                <a:uFillTx/>
                <a:latin typeface="Arial"/>
                <a:ea typeface="Arial"/>
              </a:rPr>
              <a:t>:</a:t>
            </a:r>
            <a:endParaRPr lang="en-US" sz="2000" b="0" u="none" strike="noStrike">
              <a:solidFill>
                <a:srgbClr val="000000"/>
              </a:solidFill>
              <a:effectLst/>
              <a:uFillTx/>
              <a:latin typeface="Arial"/>
            </a:endParaRPr>
          </a:p>
        </p:txBody>
      </p:sp>
      <p:sp>
        <p:nvSpPr>
          <p:cNvPr id="46" name=""/>
          <p:cNvSpPr txBox="1"/>
          <p:nvPr/>
        </p:nvSpPr>
        <p:spPr>
          <a:xfrm>
            <a:off x="611640" y="3706920"/>
            <a:ext cx="4259160" cy="3297960"/>
          </a:xfrm>
          <a:prstGeom prst="rect">
            <a:avLst/>
          </a:prstGeom>
          <a:noFill/>
          <a:ln w="0">
            <a:noFill/>
          </a:ln>
        </p:spPr>
        <p:txBody>
          <a:bodyPr lIns="90000" rIns="90000" tIns="45000" bIns="45000" anchor="t">
            <a:normAutofit/>
          </a:bodyPr>
          <a:p>
            <a:r>
              <a:rPr lang="en-US" sz="2000" b="0" u="none" spc="-99" strike="noStrike">
                <a:solidFill>
                  <a:srgbClr val="003248"/>
                </a:solidFill>
                <a:effectLst/>
                <a:uFillTx/>
                <a:latin typeface="Arial"/>
                <a:ea typeface="Arial"/>
              </a:rPr>
              <a:t>Requests by category type</a:t>
            </a:r>
            <a:r>
              <a:rPr lang="en-US" sz="2000" b="0" u="none" spc="-99" strike="noStrike">
                <a:solidFill>
                  <a:srgbClr val="003248"/>
                </a:solidFill>
                <a:effectLst/>
                <a:uFillTx/>
                <a:latin typeface="Arial"/>
                <a:ea typeface="Arial"/>
              </a:rPr>
              <a:t>:</a:t>
            </a:r>
            <a:endParaRPr lang="en-US" sz="2000" b="0" u="none" strike="noStrike">
              <a:solidFill>
                <a:srgbClr val="000000"/>
              </a:solidFill>
              <a:effectLst/>
              <a:uFillTx/>
              <a:latin typeface="Arial"/>
            </a:endParaRPr>
          </a:p>
        </p:txBody>
      </p:sp>
      <p:graphicFrame>
        <p:nvGraphicFramePr>
          <p:cNvPr id="47" name=""/>
          <p:cNvGraphicFramePr/>
          <p:nvPr/>
        </p:nvGraphicFramePr>
        <p:xfrm>
          <a:off x="611640" y="4098600"/>
          <a:ext cx="5066280" cy="2378520"/>
        </p:xfrm>
        <a:graphic>
          <a:graphicData uri="http://schemas.openxmlformats.org/drawingml/2006/table">
            <a:tbl>
              <a:tblPr/>
              <a:tblGrid>
                <a:gridCol w="4235040"/>
                <a:gridCol w="831600"/>
              </a:tblGrid>
              <a:tr h="1189080">
                <a:tc>
                  <a:txBody>
                    <a:bodyPr lIns="7560" rIns="7560" tIns="7560" bIns="7560" anchor="b" anchorCtr="1">
                      <a:noAutofit/>
                    </a:bodyPr>
                    <a:p>
                      <a:r>
                        <a:rPr lang="en-US" sz="1100" b="0" u="none" strike="noStrike">
                          <a:solidFill>
                            <a:srgbClr val="003248"/>
                          </a:solidFill>
                          <a:effectLst/>
                          <a:uFillTx/>
                          <a:latin typeface="Arial"/>
                          <a:ea typeface="Arial"/>
                        </a:rPr>
                        <a:t>Support Category</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b" anchorCtr="1">
                      <a:noAutofit/>
                    </a:bodyPr>
                    <a:p>
                      <a:r>
                        <a:rPr lang="en-US" sz="1100" b="0" u="none" strike="noStrike">
                          <a:solidFill>
                            <a:srgbClr val="003248"/>
                          </a:solidFill>
                          <a:effectLst/>
                          <a:uFillTx/>
                          <a:latin typeface="Arial"/>
                          <a:ea typeface="Arial"/>
                        </a:rPr>
                        <a:t>Count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r h="1189440">
                <a:tc>
                  <a:txBody>
                    <a:bodyPr lIns="7560" rIns="7560" tIns="7560" bIns="7560" anchor="b" anchorCtr="1">
                      <a:noAutofit/>
                    </a:bodyPr>
                    <a:p>
                      <a:r>
                        <a:rPr lang="en-US" sz="1100" b="0" u="none" strike="noStrike">
                          <a:solidFill>
                            <a:srgbClr val="003248"/>
                          </a:solidFill>
                          <a:effectLst/>
                          <a:uFillTx/>
                          <a:latin typeface="Arial"/>
                          <a:ea typeface="Arial"/>
                        </a:rPr>
                        <a:t>{{table:su_sup_cat}} {{su_cat}}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b" anchorCtr="1">
                      <a:noAutofit/>
                    </a:bodyPr>
                    <a:p>
                      <a:pPr algn="r"/>
                      <a:r>
                        <a:rPr lang="en-US" sz="1100" b="0" u="none" strike="noStrike">
                          <a:solidFill>
                            <a:srgbClr val="003248"/>
                          </a:solidFill>
                          <a:effectLst/>
                          <a:uFillTx/>
                          <a:latin typeface="Arial"/>
                          <a:ea typeface="Arial"/>
                        </a:rPr>
                        <a:t>{{su_cat_count}}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bl>
          </a:graphicData>
        </a:graphic>
      </p:graphicFrame>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 name=""/>
          <p:cNvSpPr txBox="1"/>
          <p:nvPr/>
        </p:nvSpPr>
        <p:spPr>
          <a:xfrm>
            <a:off x="459360" y="188640"/>
            <a:ext cx="8283240" cy="893160"/>
          </a:xfrm>
          <a:prstGeom prst="rect">
            <a:avLst/>
          </a:prstGeom>
          <a:noFill/>
          <a:ln w="0">
            <a:noFill/>
          </a:ln>
        </p:spPr>
        <p:txBody>
          <a:bodyPr lIns="90000" rIns="90000" tIns="45000" bIns="45000" anchor="t">
            <a:normAutofit/>
          </a:bodyPr>
          <a:p>
            <a:r>
              <a:rPr lang="en-US" sz="2400" b="1" u="none" spc="-99" strike="noStrike">
                <a:solidFill>
                  <a:srgbClr val="2d5769"/>
                </a:solidFill>
                <a:effectLst/>
                <a:uFillTx/>
                <a:latin typeface="Helvetica-Bold"/>
                <a:ea typeface="Helvetica-Bold"/>
              </a:rPr>
              <a:t>Support Activity Overview  </a:t>
            </a:r>
            <a:r>
              <a:rPr lang="en-US" sz="2000" b="1" u="none" spc="-99" strike="noStrike">
                <a:solidFill>
                  <a:srgbClr val="2d5769"/>
                </a:solidFill>
                <a:effectLst/>
                <a:uFillTx/>
                <a:latin typeface="Verdana-Bold"/>
                <a:ea typeface="Verdana-Bold"/>
              </a:rPr>
              <a:t>Supplier Users - Satisfaction scores</a:t>
            </a:r>
            <a:endParaRPr lang="en-US" sz="2000" b="0" u="none" strike="noStrike">
              <a:solidFill>
                <a:srgbClr val="000000"/>
              </a:solidFill>
              <a:effectLst/>
              <a:uFillTx/>
              <a:latin typeface="Arial"/>
            </a:endParaRPr>
          </a:p>
        </p:txBody>
      </p:sp>
      <p:sp>
        <p:nvSpPr>
          <p:cNvPr id="49" name=""/>
          <p:cNvSpPr txBox="1"/>
          <p:nvPr/>
        </p:nvSpPr>
        <p:spPr>
          <a:xfrm>
            <a:off x="187200" y="6559200"/>
            <a:ext cx="8385120" cy="298800"/>
          </a:xfrm>
          <a:prstGeom prst="rect">
            <a:avLst/>
          </a:prstGeom>
          <a:noFill/>
          <a:ln w="0">
            <a:noFill/>
          </a:ln>
        </p:spPr>
        <p:txBody>
          <a:bodyPr lIns="90000" rIns="90000" tIns="45000" bIns="45000" anchor="t">
            <a:normAutofit/>
          </a:bodyPr>
          <a:p>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r>
              <a:rPr lang="en-US" sz="500" b="0" u="none" strike="noStrike">
                <a:solidFill>
                  <a:srgbClr val="484a52"/>
                </a:solidFill>
                <a:effectLst/>
                <a:uFillTx/>
                <a:latin typeface="CenturyGothic"/>
                <a:ea typeface="CenturyGothic"/>
              </a:rPr>
              <a:t>.</a:t>
            </a:r>
            <a:endParaRPr lang="en-US" sz="500" b="0" u="none" strike="noStrike">
              <a:solidFill>
                <a:srgbClr val="000000"/>
              </a:solidFill>
              <a:effectLst/>
              <a:uFillTx/>
              <a:latin typeface="Arial"/>
            </a:endParaRPr>
          </a:p>
        </p:txBody>
      </p:sp>
      <p:sp>
        <p:nvSpPr>
          <p:cNvPr id="50" name=""/>
          <p:cNvSpPr/>
          <p:nvPr/>
        </p:nvSpPr>
        <p:spPr>
          <a:xfrm>
            <a:off x="4937760" y="1361880"/>
            <a:ext cx="2466360" cy="1420920"/>
          </a:xfrm>
          <a:custGeom>
            <a:avLst/>
            <a:gdLst/>
            <a:ahLst/>
            <a:rect l="0" t="0" r="r" b="b"/>
            <a:pathLst>
              <a:path w="6851" h="3947">
                <a:moveTo>
                  <a:pt x="0" y="0"/>
                </a:moveTo>
                <a:lnTo>
                  <a:pt x="6851" y="0"/>
                </a:lnTo>
                <a:lnTo>
                  <a:pt x="6851" y="3947"/>
                </a:lnTo>
                <a:lnTo>
                  <a:pt x="0" y="3947"/>
                </a:lnTo>
                <a:lnTo>
                  <a:pt x="0" y="0"/>
                </a:lnTo>
                <a:close/>
              </a:path>
            </a:pathLst>
          </a:custGeom>
          <a:solidFill>
            <a:srgbClr val="ffffff"/>
          </a:solidFill>
          <a:ln w="3240">
            <a:solidFill>
              <a:srgbClr val="ffffff"/>
            </a:solidFill>
            <a:round/>
          </a:ln>
        </p:spPr>
        <p:txBody>
          <a:bodyPr tIns="46440" bIns="46440" anchor="t">
            <a:noAutofit/>
          </a:bodyPr>
          <a:p>
            <a:endParaRPr lang="en-US" sz="1800" b="0" u="none" strike="noStrike">
              <a:solidFill>
                <a:srgbClr val="000000"/>
              </a:solidFill>
              <a:effectLst/>
              <a:uFillTx/>
              <a:latin typeface="Arial"/>
            </a:endParaRPr>
          </a:p>
        </p:txBody>
      </p:sp>
      <p:pic>
        <p:nvPicPr>
          <p:cNvPr id="51" name=""/>
          <p:cNvPicPr/>
          <p:nvPr/>
        </p:nvPicPr>
        <p:blipFill>
          <a:blip r:embed="rId1"/>
          <a:stretch/>
        </p:blipFill>
        <p:spPr>
          <a:xfrm>
            <a:off x="7078320" y="6127560"/>
            <a:ext cx="1766520" cy="581040"/>
          </a:xfrm>
          <a:prstGeom prst="rect">
            <a:avLst/>
          </a:prstGeom>
          <a:noFill/>
          <a:ln w="0">
            <a:noFill/>
          </a:ln>
        </p:spPr>
      </p:pic>
      <p:sp>
        <p:nvSpPr>
          <p:cNvPr id="52" name=""/>
          <p:cNvSpPr/>
          <p:nvPr/>
        </p:nvSpPr>
        <p:spPr>
          <a:xfrm>
            <a:off x="4157640" y="3429000"/>
            <a:ext cx="1768320" cy="411840"/>
          </a:xfrm>
          <a:custGeom>
            <a:avLst/>
            <a:gdLst/>
            <a:ahLst/>
            <a:rect l="0" t="0" r="r" b="b"/>
            <a:pathLst>
              <a:path w="4912" h="1144">
                <a:moveTo>
                  <a:pt x="0" y="0"/>
                </a:moveTo>
                <a:lnTo>
                  <a:pt x="4912" y="0"/>
                </a:lnTo>
                <a:lnTo>
                  <a:pt x="4912" y="1144"/>
                </a:lnTo>
                <a:lnTo>
                  <a:pt x="0" y="1144"/>
                </a:lnTo>
                <a:lnTo>
                  <a:pt x="0" y="0"/>
                </a:lnTo>
                <a:close/>
              </a:path>
            </a:pathLst>
          </a:custGeom>
          <a:solidFill>
            <a:srgbClr val="ffffff"/>
          </a:solidFill>
          <a:ln w="3240">
            <a:solidFill>
              <a:srgbClr val="ffffff"/>
            </a:solidFill>
            <a:round/>
          </a:ln>
        </p:spPr>
        <p:txBody>
          <a:bodyPr tIns="46440" bIns="46440" anchor="t">
            <a:noAutofit/>
          </a:bodyPr>
          <a:p>
            <a:endParaRPr lang="en-US" sz="1800" b="0" u="none" strike="noStrike">
              <a:solidFill>
                <a:srgbClr val="000000"/>
              </a:solidFill>
              <a:effectLst/>
              <a:uFillTx/>
              <a:latin typeface="Arial"/>
            </a:endParaRPr>
          </a:p>
        </p:txBody>
      </p:sp>
      <p:graphicFrame>
        <p:nvGraphicFramePr>
          <p:cNvPr id="53" name=""/>
          <p:cNvGraphicFramePr/>
          <p:nvPr/>
        </p:nvGraphicFramePr>
        <p:xfrm>
          <a:off x="330480" y="1712880"/>
          <a:ext cx="5694120" cy="4255200"/>
        </p:xfrm>
        <a:graphic>
          <a:graphicData uri="http://schemas.openxmlformats.org/drawingml/2006/table">
            <a:tbl>
              <a:tblPr/>
              <a:tblGrid>
                <a:gridCol w="1423440"/>
                <a:gridCol w="1423440"/>
                <a:gridCol w="1423440"/>
                <a:gridCol w="1423800"/>
              </a:tblGrid>
              <a:tr h="1792800">
                <a:tc>
                  <a:txBody>
                    <a:bodyPr lIns="45720" rIns="45720" anchor="t" anchorCtr="1">
                      <a:noAutofit/>
                    </a:bodyPr>
                    <a:p>
                      <a:pPr algn="ctr"/>
                      <a:r>
                        <a:rPr lang="en-US" sz="4000" b="1" u="none" strike="noStrike">
                          <a:solidFill>
                            <a:srgbClr val="ffffff"/>
                          </a:solidFill>
                          <a:effectLst/>
                          <a:uFillTx/>
                          <a:latin typeface="Helvetica-Bold"/>
                          <a:ea typeface="Helvetica-Bold"/>
                        </a:rPr>
                        <a:t>September</a:t>
                      </a:r>
                      <a:endParaRPr lang="en-US" sz="40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chorCtr="1">
                      <a:noAutofit/>
                    </a:bodyPr>
                    <a:p>
                      <a:endParaRPr lang="en-US" sz="1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chorCtr="1">
                      <a:noAutofit/>
                    </a:bodyPr>
                    <a:p>
                      <a:pPr algn="ctr"/>
                      <a:r>
                        <a:rPr lang="en-US" sz="4000" b="1" u="none" strike="noStrike">
                          <a:solidFill>
                            <a:srgbClr val="ffffff"/>
                          </a:solidFill>
                          <a:effectLst/>
                          <a:uFillTx/>
                          <a:latin typeface="Helvetica-Bold"/>
                          <a:ea typeface="Helvetica-Bold"/>
                        </a:rPr>
                        <a:t>October</a:t>
                      </a:r>
                      <a:endParaRPr lang="en-US" sz="40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chorCtr="1">
                      <a:noAutofit/>
                    </a:bodyPr>
                    <a:p>
                      <a:endParaRPr lang="en-US" sz="1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600840">
                <a:tc>
                  <a:txBody>
                    <a:bodyPr lIns="45720" rIns="45720" anchor="t" anchorCtr="1">
                      <a:noAutofit/>
                    </a:bodyPr>
                    <a:p>
                      <a:pPr algn="ctr"/>
                      <a:r>
                        <a:rPr lang="en-US" sz="2000" b="0" u="none" strike="noStrike">
                          <a:solidFill>
                            <a:srgbClr val="003248"/>
                          </a:solidFill>
                          <a:effectLst/>
                          <a:uFillTx/>
                          <a:latin typeface="Arial"/>
                          <a:ea typeface="Arial"/>
                        </a:rPr>
                        <a:t>Good</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2000" b="0" u="none" strike="noStrike">
                          <a:solidFill>
                            <a:srgbClr val="003248"/>
                          </a:solidFill>
                          <a:effectLst/>
                          <a:uFillTx/>
                          <a:latin typeface="Arial"/>
                          <a:ea typeface="Arial"/>
                        </a:rPr>
                        <a:t>Good with Comment</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2000" b="0" u="none" strike="noStrike">
                          <a:solidFill>
                            <a:srgbClr val="003248"/>
                          </a:solidFill>
                          <a:effectLst/>
                          <a:uFillTx/>
                          <a:latin typeface="Arial"/>
                          <a:ea typeface="Arial"/>
                        </a:rPr>
                        <a:t>Good</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2000" b="0" u="none" strike="noStrike">
                          <a:solidFill>
                            <a:srgbClr val="003248"/>
                          </a:solidFill>
                          <a:effectLst/>
                          <a:uFillTx/>
                          <a:latin typeface="Arial"/>
                          <a:ea typeface="Arial"/>
                        </a:rPr>
                        <a:t>Good with Comment</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r h="2329560">
                <a:tc>
                  <a:txBody>
                    <a:bodyPr lIns="45720" rIns="45720" anchor="t" anchorCtr="1">
                      <a:noAutofit/>
                    </a:bodyPr>
                    <a:p>
                      <a:pPr algn="ctr"/>
                      <a:r>
                        <a:rPr lang="en-US" sz="4400" b="0" u="none" strike="noStrike">
                          <a:solidFill>
                            <a:srgbClr val="003248"/>
                          </a:solidFill>
                          <a:effectLst/>
                          <a:uFillTx/>
                          <a:latin typeface="Arial"/>
                          <a:ea typeface="Arial"/>
                        </a:rPr>
                        <a:t>{{su_prev_sat}}</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4400" b="0" u="none" strike="noStrike">
                          <a:solidFill>
                            <a:srgbClr val="003248"/>
                          </a:solidFill>
                          <a:effectLst/>
                          <a:uFillTx/>
                          <a:latin typeface="Arial"/>
                          <a:ea typeface="Arial"/>
                        </a:rPr>
                        <a:t>{{su_prev_sat__c}}</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4400" b="0" u="none" strike="noStrike">
                          <a:solidFill>
                            <a:srgbClr val="003248"/>
                          </a:solidFill>
                          <a:effectLst/>
                          <a:uFillTx/>
                          <a:latin typeface="Arial"/>
                          <a:ea typeface="Arial"/>
                        </a:rPr>
                        <a:t>{{su_sat}}</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pPr algn="ctr"/>
                      <a:r>
                        <a:rPr lang="en-US" sz="4400" b="0" u="none" strike="noStrike">
                          <a:solidFill>
                            <a:srgbClr val="003248"/>
                          </a:solidFill>
                          <a:effectLst/>
                          <a:uFillTx/>
                          <a:latin typeface="Arial"/>
                          <a:ea typeface="Arial"/>
                        </a:rPr>
                        <a:t>{{su_sat_c}}</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54" name=""/>
          <p:cNvSpPr txBox="1"/>
          <p:nvPr/>
        </p:nvSpPr>
        <p:spPr>
          <a:xfrm>
            <a:off x="395280" y="2314440"/>
            <a:ext cx="5198760" cy="1341000"/>
          </a:xfrm>
          <a:prstGeom prst="rect">
            <a:avLst/>
          </a:prstGeom>
          <a:noFill/>
          <a:ln w="0">
            <a:noFill/>
          </a:ln>
        </p:spPr>
        <p:txBody>
          <a:bodyPr lIns="90000" rIns="90000" tIns="45000" bIns="45000" anchor="t">
            <a:normAutofit/>
          </a:bodyPr>
          <a:p>
            <a:r>
              <a:rPr lang="en-US" sz="3600" b="0" u="none" strike="noStrike">
                <a:solidFill>
                  <a:srgbClr val="003248"/>
                </a:solidFill>
                <a:effectLst/>
                <a:uFillTx/>
                <a:latin typeface="Arial"/>
                <a:ea typeface="Arial"/>
              </a:rPr>
              <a:t>Global Data</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
          <p:cNvSpPr txBox="1"/>
          <p:nvPr/>
        </p:nvSpPr>
        <p:spPr>
          <a:xfrm>
            <a:off x="459360" y="188640"/>
            <a:ext cx="8283240" cy="1299600"/>
          </a:xfrm>
          <a:prstGeom prst="rect">
            <a:avLst/>
          </a:prstGeom>
          <a:noFill/>
          <a:ln w="0">
            <a:noFill/>
          </a:ln>
        </p:spPr>
        <p:txBody>
          <a:bodyPr lIns="90000" rIns="90000" tIns="45000" bIns="45000" anchor="t">
            <a:normAutofit/>
          </a:bodyPr>
          <a:p>
            <a:r>
              <a:rPr lang="en-US" sz="2400" b="1" u="none" spc="-99" strike="noStrike">
                <a:solidFill>
                  <a:srgbClr val="2d5769"/>
                </a:solidFill>
                <a:effectLst/>
                <a:uFillTx/>
                <a:latin typeface="Helvetica-Bold"/>
                <a:ea typeface="Helvetica-Bold"/>
              </a:rPr>
              <a:t>Support Activity Overview  </a:t>
            </a:r>
            <a:r>
              <a:rPr lang="en-US" sz="2000" b="1" u="none" spc="-99" strike="noStrike">
                <a:solidFill>
                  <a:srgbClr val="2d5769"/>
                </a:solidFill>
                <a:effectLst/>
                <a:uFillTx/>
                <a:latin typeface="Helvetica-Bold"/>
                <a:ea typeface="Helvetica-Bold"/>
              </a:rPr>
              <a:t>Peapod Digital Labs For October 2025 Global</a:t>
            </a:r>
            <a:endParaRPr lang="en-US" sz="2000" b="0" u="none" strike="noStrike">
              <a:solidFill>
                <a:srgbClr val="000000"/>
              </a:solidFill>
              <a:effectLst/>
              <a:uFillTx/>
              <a:latin typeface="Arial"/>
            </a:endParaRPr>
          </a:p>
        </p:txBody>
      </p:sp>
      <p:sp>
        <p:nvSpPr>
          <p:cNvPr id="56" name=""/>
          <p:cNvSpPr txBox="1"/>
          <p:nvPr/>
        </p:nvSpPr>
        <p:spPr>
          <a:xfrm>
            <a:off x="209880" y="3467160"/>
            <a:ext cx="4223160" cy="435960"/>
          </a:xfrm>
          <a:prstGeom prst="rect">
            <a:avLst/>
          </a:prstGeom>
          <a:noFill/>
          <a:ln w="0">
            <a:noFill/>
          </a:ln>
        </p:spPr>
        <p:txBody>
          <a:bodyPr lIns="90000" rIns="90000" tIns="45000" bIns="45000" anchor="t">
            <a:normAutofit/>
          </a:bodyPr>
          <a:p>
            <a:pPr rtl="1">
              <a:lnSpc>
                <a:spcPts val="1800"/>
              </a:lnSpc>
              <a:spcBef>
                <a:spcPts val="300"/>
              </a:spcBef>
              <a:spcAft>
                <a:spcPts val="300"/>
              </a:spcAft>
            </a:pPr>
            <a:r>
              <a:rPr lang="en-US" sz="1800" b="0" u="none" spc="-99" strike="noStrike">
                <a:solidFill>
                  <a:srgbClr val="003248"/>
                </a:solidFill>
                <a:effectLst/>
                <a:uFillTx/>
                <a:latin typeface="Arial"/>
                <a:ea typeface="Arial"/>
              </a:rPr>
              <a:t>Top 5 Suppliers this month</a:t>
            </a:r>
            <a:r>
              <a:rPr lang="en-US" sz="1800" b="0" u="none" spc="-99" strike="noStrike">
                <a:solidFill>
                  <a:srgbClr val="003248"/>
                </a:solidFill>
                <a:effectLst/>
                <a:uFillTx/>
                <a:latin typeface="Arial"/>
                <a:ea typeface="Arial"/>
              </a:rPr>
              <a:t>:</a:t>
            </a:r>
            <a:endParaRPr lang="en-US" sz="1800" b="0" u="none" strike="noStrike">
              <a:solidFill>
                <a:srgbClr val="000000"/>
              </a:solidFill>
              <a:effectLst/>
              <a:uFillTx/>
              <a:latin typeface="Arial"/>
            </a:endParaRPr>
          </a:p>
        </p:txBody>
      </p:sp>
      <p:sp>
        <p:nvSpPr>
          <p:cNvPr id="57" name=""/>
          <p:cNvSpPr txBox="1"/>
          <p:nvPr/>
        </p:nvSpPr>
        <p:spPr>
          <a:xfrm>
            <a:off x="187200" y="6559200"/>
            <a:ext cx="8385120" cy="298800"/>
          </a:xfrm>
          <a:prstGeom prst="rect">
            <a:avLst/>
          </a:prstGeom>
          <a:noFill/>
          <a:ln w="0">
            <a:noFill/>
          </a:ln>
        </p:spPr>
        <p:txBody>
          <a:bodyPr lIns="90000" rIns="90000" tIns="45000" bIns="45000" anchor="t">
            <a:normAutofit/>
          </a:bodyPr>
          <a:p>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r>
              <a:rPr lang="en-US" sz="500" b="0" u="none" strike="noStrike">
                <a:solidFill>
                  <a:srgbClr val="484a52"/>
                </a:solidFill>
                <a:effectLst/>
                <a:uFillTx/>
                <a:latin typeface="CenturyGothic"/>
                <a:ea typeface="CenturyGothic"/>
              </a:rPr>
              <a:t>.</a:t>
            </a:r>
            <a:endParaRPr lang="en-US" sz="500" b="0" u="none" strike="noStrike">
              <a:solidFill>
                <a:srgbClr val="000000"/>
              </a:solidFill>
              <a:effectLst/>
              <a:uFillTx/>
              <a:latin typeface="Arial"/>
            </a:endParaRPr>
          </a:p>
        </p:txBody>
      </p:sp>
      <p:pic>
        <p:nvPicPr>
          <p:cNvPr id="58" name=""/>
          <p:cNvPicPr/>
          <p:nvPr/>
        </p:nvPicPr>
        <p:blipFill>
          <a:blip r:embed="rId1"/>
          <a:stretch/>
        </p:blipFill>
        <p:spPr>
          <a:xfrm>
            <a:off x="7078320" y="6127560"/>
            <a:ext cx="1766520" cy="581040"/>
          </a:xfrm>
          <a:prstGeom prst="rect">
            <a:avLst/>
          </a:prstGeom>
          <a:noFill/>
          <a:ln w="0">
            <a:noFill/>
          </a:ln>
        </p:spPr>
      </p:pic>
      <p:graphicFrame>
        <p:nvGraphicFramePr>
          <p:cNvPr id="59" name=""/>
          <p:cNvGraphicFramePr/>
          <p:nvPr/>
        </p:nvGraphicFramePr>
        <p:xfrm>
          <a:off x="209880" y="1512360"/>
          <a:ext cx="4223160" cy="1626120"/>
        </p:xfrm>
        <a:graphic>
          <a:graphicData uri="http://schemas.openxmlformats.org/drawingml/2006/table">
            <a:tbl>
              <a:tblPr/>
              <a:tblGrid>
                <a:gridCol w="2111760"/>
                <a:gridCol w="2111760"/>
              </a:tblGrid>
              <a:tr h="813240">
                <a:tc>
                  <a:txBody>
                    <a:bodyPr lIns="45720" rIns="45720" anchor="t" anchorCtr="1">
                      <a:noAutofit/>
                    </a:bodyPr>
                    <a:p>
                      <a:pPr algn="ctr"/>
                      <a:r>
                        <a:rPr lang="en-US" sz="2800" b="1" u="none" strike="noStrike">
                          <a:solidFill>
                            <a:srgbClr val="ffffff"/>
                          </a:solidFill>
                          <a:effectLst/>
                          <a:uFillTx/>
                          <a:latin typeface="Helvetica-Bold"/>
                          <a:ea typeface="Helvetica-Bold"/>
                        </a:rPr>
                        <a:t>September</a:t>
                      </a:r>
                      <a:endParaRPr lang="en-US" sz="2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chorCtr="1">
                      <a:noAutofit/>
                    </a:bodyPr>
                    <a:p>
                      <a:pPr algn="ctr"/>
                      <a:r>
                        <a:rPr lang="en-US" sz="2800" b="1" u="none" strike="noStrike">
                          <a:solidFill>
                            <a:srgbClr val="ffffff"/>
                          </a:solidFill>
                          <a:effectLst/>
                          <a:uFillTx/>
                          <a:latin typeface="Helvetica-Bold"/>
                          <a:ea typeface="Helvetica-Bold"/>
                        </a:rPr>
                        <a:t>October</a:t>
                      </a:r>
                      <a:endParaRPr lang="en-US" sz="2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813240">
                <a:tc>
                  <a:txBody>
                    <a:bodyPr lIns="45720" rIns="45720" anchor="t" anchorCtr="1">
                      <a:noAutofit/>
                    </a:bodyPr>
                    <a:p>
                      <a:endParaRPr lang="en-US" sz="18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endParaRPr lang="en-US" sz="18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graphicFrame>
        <p:nvGraphicFramePr>
          <p:cNvPr id="60" name=""/>
          <p:cNvGraphicFramePr/>
          <p:nvPr/>
        </p:nvGraphicFramePr>
        <p:xfrm>
          <a:off x="4711320" y="1512360"/>
          <a:ext cx="4141800" cy="1626120"/>
        </p:xfrm>
        <a:graphic>
          <a:graphicData uri="http://schemas.openxmlformats.org/drawingml/2006/table">
            <a:tbl>
              <a:tblPr/>
              <a:tblGrid>
                <a:gridCol w="2070720"/>
                <a:gridCol w="2071080"/>
              </a:tblGrid>
              <a:tr h="813240">
                <a:tc>
                  <a:txBody>
                    <a:bodyPr lIns="45720" rIns="45720" anchor="t" anchorCtr="1">
                      <a:noAutofit/>
                    </a:bodyPr>
                    <a:p>
                      <a:pPr algn="ctr"/>
                      <a:r>
                        <a:rPr lang="en-US" sz="2800" b="1" u="none" strike="noStrike">
                          <a:solidFill>
                            <a:srgbClr val="ffffff"/>
                          </a:solidFill>
                          <a:effectLst/>
                          <a:uFillTx/>
                          <a:latin typeface="Helvetica-Bold"/>
                          <a:ea typeface="Helvetica-Bold"/>
                        </a:rPr>
                        <a:t>September</a:t>
                      </a:r>
                      <a:endParaRPr lang="en-US" sz="2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chorCtr="1">
                      <a:noAutofit/>
                    </a:bodyPr>
                    <a:p>
                      <a:pPr algn="ctr"/>
                      <a:r>
                        <a:rPr lang="en-US" sz="2800" b="1" u="none" strike="noStrike">
                          <a:solidFill>
                            <a:srgbClr val="ffffff"/>
                          </a:solidFill>
                          <a:effectLst/>
                          <a:uFillTx/>
                          <a:latin typeface="Helvetica-Bold"/>
                          <a:ea typeface="Helvetica-Bold"/>
                        </a:rPr>
                        <a:t>October</a:t>
                      </a:r>
                      <a:endParaRPr lang="en-US" sz="2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813240">
                <a:tc>
                  <a:txBody>
                    <a:bodyPr lIns="45720" rIns="45720" anchor="t" anchorCtr="1">
                      <a:noAutofit/>
                    </a:bodyPr>
                    <a:p>
                      <a:endParaRPr lang="en-US" sz="18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chorCtr="1">
                      <a:noAutofit/>
                    </a:bodyPr>
                    <a:p>
                      <a:endParaRPr lang="en-US" sz="18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sp>
        <p:nvSpPr>
          <p:cNvPr id="61" name=""/>
          <p:cNvSpPr txBox="1"/>
          <p:nvPr/>
        </p:nvSpPr>
        <p:spPr>
          <a:xfrm>
            <a:off x="209880" y="1050120"/>
            <a:ext cx="5028480" cy="450720"/>
          </a:xfrm>
          <a:prstGeom prst="rect">
            <a:avLst/>
          </a:prstGeom>
          <a:noFill/>
          <a:ln w="0">
            <a:noFill/>
          </a:ln>
        </p:spPr>
        <p:txBody>
          <a:bodyPr lIns="90000" rIns="90000" tIns="45000" bIns="45000" anchor="t">
            <a:normAutofit/>
          </a:bodyPr>
          <a:p>
            <a:r>
              <a:rPr lang="en-US" sz="2400" b="0" u="none" spc="-99" strike="noStrike">
                <a:solidFill>
                  <a:srgbClr val="003248"/>
                </a:solidFill>
                <a:effectLst/>
                <a:uFillTx/>
                <a:latin typeface="Arial"/>
                <a:ea typeface="Arial"/>
              </a:rPr>
              <a:t>Calls and Teams meetings</a:t>
            </a:r>
            <a:r>
              <a:rPr lang="en-US" sz="2400" b="0" u="none" spc="-99" strike="noStrike">
                <a:solidFill>
                  <a:srgbClr val="003248"/>
                </a:solidFill>
                <a:effectLst/>
                <a:uFillTx/>
                <a:latin typeface="Arial"/>
                <a:ea typeface="Arial"/>
              </a:rPr>
              <a:t>:</a:t>
            </a:r>
            <a:endParaRPr lang="en-US" sz="2400" b="0" u="none" strike="noStrike">
              <a:solidFill>
                <a:srgbClr val="000000"/>
              </a:solidFill>
              <a:effectLst/>
              <a:uFillTx/>
              <a:latin typeface="Arial"/>
            </a:endParaRPr>
          </a:p>
        </p:txBody>
      </p:sp>
      <p:sp>
        <p:nvSpPr>
          <p:cNvPr id="62" name=""/>
          <p:cNvSpPr txBox="1"/>
          <p:nvPr/>
        </p:nvSpPr>
        <p:spPr>
          <a:xfrm>
            <a:off x="4710960" y="1069560"/>
            <a:ext cx="5028480" cy="450720"/>
          </a:xfrm>
          <a:prstGeom prst="rect">
            <a:avLst/>
          </a:prstGeom>
          <a:noFill/>
          <a:ln w="0">
            <a:noFill/>
          </a:ln>
        </p:spPr>
        <p:txBody>
          <a:bodyPr lIns="90000" rIns="90000" tIns="45000" bIns="45000" anchor="t">
            <a:normAutofit/>
          </a:bodyPr>
          <a:p>
            <a:r>
              <a:rPr lang="en-US" sz="2400" b="0" u="none" spc="-99" strike="noStrike">
                <a:solidFill>
                  <a:srgbClr val="003248"/>
                </a:solidFill>
                <a:effectLst/>
                <a:uFillTx/>
                <a:latin typeface="Arial"/>
                <a:ea typeface="Arial"/>
              </a:rPr>
              <a:t>Average per day</a:t>
            </a:r>
            <a:r>
              <a:rPr lang="en-US" sz="2400" b="0" u="none" spc="-99" strike="noStrike">
                <a:solidFill>
                  <a:srgbClr val="003248"/>
                </a:solidFill>
                <a:effectLst/>
                <a:uFillTx/>
                <a:latin typeface="Arial"/>
                <a:ea typeface="Arial"/>
              </a:rPr>
              <a:t>:</a:t>
            </a:r>
            <a:endParaRPr lang="en-US" sz="2400" b="0" u="none" strike="noStrike">
              <a:solidFill>
                <a:srgbClr val="000000"/>
              </a:solidFill>
              <a:effectLst/>
              <a:uFillTx/>
              <a:latin typeface="Arial"/>
            </a:endParaRPr>
          </a:p>
        </p:txBody>
      </p:sp>
      <p:graphicFrame>
        <p:nvGraphicFramePr>
          <p:cNvPr id="63" name=""/>
          <p:cNvGraphicFramePr/>
          <p:nvPr/>
        </p:nvGraphicFramePr>
        <p:xfrm>
          <a:off x="209880" y="3838320"/>
          <a:ext cx="4063680" cy="2516040"/>
        </p:xfrm>
        <a:graphic>
          <a:graphicData uri="http://schemas.openxmlformats.org/drawingml/2006/table">
            <a:tbl>
              <a:tblPr/>
              <a:tblGrid>
                <a:gridCol w="3062880"/>
                <a:gridCol w="1000800"/>
              </a:tblGrid>
              <a:tr h="1257840">
                <a:tc>
                  <a:txBody>
                    <a:bodyPr lIns="7560" rIns="7560" tIns="7560" bIns="7560" anchor="b" anchorCtr="1">
                      <a:noAutofit/>
                    </a:bodyPr>
                    <a:p>
                      <a:r>
                        <a:rPr lang="en-US" sz="1100" b="1" u="none" strike="noStrike">
                          <a:solidFill>
                            <a:srgbClr val="003248"/>
                          </a:solidFill>
                          <a:effectLst/>
                          <a:uFillTx/>
                          <a:latin typeface="Helvetica-Bold"/>
                          <a:ea typeface="Helvetica-Bold"/>
                        </a:rPr>
                        <a:t>Org name</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b" anchorCtr="1">
                      <a:noAutofit/>
                    </a:bodyPr>
                    <a:p>
                      <a:r>
                        <a:rPr lang="en-US" sz="1100" b="1" u="none" strike="noStrike">
                          <a:solidFill>
                            <a:srgbClr val="003248"/>
                          </a:solidFill>
                          <a:effectLst/>
                          <a:uFillTx/>
                          <a:latin typeface="Helvetica-Bold"/>
                          <a:ea typeface="Helvetica-Bold"/>
                        </a:rPr>
                        <a:t>Count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r h="1258200">
                <a:tc>
                  <a:txBody>
                    <a:bodyPr lIns="7560" rIns="7560" tIns="7560" bIns="7560" anchor="b" anchorCtr="1">
                      <a:noAutofit/>
                    </a:bodyPr>
                    <a:p>
                      <a:r>
                        <a:rPr lang="en-US" sz="1100" b="0" u="none" strike="noStrike">
                          <a:solidFill>
                            <a:srgbClr val="003248"/>
                          </a:solidFill>
                          <a:effectLst/>
                          <a:uFillTx/>
                          <a:latin typeface="Arial"/>
                          <a:ea typeface="Arial"/>
                        </a:rPr>
                        <a:t>{{table:top_orgs}} {{org_name}}</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b" anchorCtr="1">
                      <a:noAutofit/>
                    </a:bodyPr>
                    <a:p>
                      <a:pPr algn="ctr"/>
                      <a:r>
                        <a:rPr lang="en-US" sz="1100" b="0" u="none" strike="noStrike">
                          <a:solidFill>
                            <a:srgbClr val="003248"/>
                          </a:solidFill>
                          <a:effectLst/>
                          <a:uFillTx/>
                          <a:latin typeface="Arial"/>
                          <a:ea typeface="Arial"/>
                        </a:rPr>
                        <a:t>{{org_count}}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bl>
          </a:graphicData>
        </a:graphic>
      </p:graphicFrame>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4" name=""/>
          <p:cNvSpPr txBox="1"/>
          <p:nvPr/>
        </p:nvSpPr>
        <p:spPr>
          <a:xfrm>
            <a:off x="498240" y="1230840"/>
            <a:ext cx="8147160" cy="2476080"/>
          </a:xfrm>
          <a:prstGeom prst="rect">
            <a:avLst/>
          </a:prstGeom>
          <a:noFill/>
          <a:ln w="0">
            <a:noFill/>
          </a:ln>
        </p:spPr>
        <p:txBody>
          <a:bodyPr lIns="90000" rIns="90000" tIns="45000" bIns="45000" anchor="t">
            <a:normAutofit/>
          </a:bodyPr>
          <a:p>
            <a:pPr marL="615600" indent="-615600" algn="ctr" rtl="1">
              <a:lnSpc>
                <a:spcPts val="1800"/>
              </a:lnSpc>
              <a:spcBef>
                <a:spcPts val="300"/>
              </a:spcBef>
              <a:spcAft>
                <a:spcPts val="300"/>
              </a:spcAft>
              <a:buClr>
                <a:srgbClr val="000000"/>
              </a:buClr>
              <a:buSzPct val="45000"/>
              <a:buFont typeface=""/>
              <a:buChar char="_x0000_"/>
            </a:pPr>
            <a:r>
              <a:rPr lang="en-US" sz="1800" b="0" u="none" strike="noStrike">
                <a:solidFill>
                  <a:srgbClr val="000000"/>
                </a:solidFill>
                <a:effectLst/>
                <a:uFillTx/>
                <a:latin typeface="Arial"/>
              </a:rPr>
              <a:t> </a:t>
            </a:r>
            <a:endParaRPr lang="en-US" sz="1800" b="0" u="none" strike="noStrike">
              <a:solidFill>
                <a:srgbClr val="000000"/>
              </a:solidFill>
              <a:effectLst/>
              <a:uFillTx/>
              <a:latin typeface="Arial"/>
            </a:endParaRPr>
          </a:p>
          <a:p>
            <a:pPr algn="ctr" rtl="1">
              <a:lnSpc>
                <a:spcPts val="1800"/>
              </a:lnSpc>
              <a:spcBef>
                <a:spcPts val="300"/>
              </a:spcBef>
              <a:spcAft>
                <a:spcPts val="300"/>
              </a:spcAft>
            </a:pPr>
            <a:r>
              <a:rPr lang="en-US" sz="11000" b="1" u="none" spc="-99" strike="noStrike">
                <a:solidFill>
                  <a:srgbClr val="003248"/>
                </a:solidFill>
                <a:effectLst/>
                <a:uFillTx/>
                <a:latin typeface="Helvetica-Bold"/>
                <a:ea typeface="Helvetica-Bold"/>
              </a:rPr>
              <a:t>Thank you</a:t>
            </a:r>
            <a:r>
              <a:rPr lang="en-US" sz="11000" b="1" u="none" spc="-99" strike="noStrike">
                <a:solidFill>
                  <a:srgbClr val="003248"/>
                </a:solidFill>
                <a:effectLst/>
                <a:uFillTx/>
                <a:latin typeface="Helvetica-Bold"/>
                <a:ea typeface="Helvetica-Bold"/>
              </a:rPr>
              <a:t>!</a:t>
            </a:r>
            <a:endParaRPr lang="en-US" sz="11000" b="0" u="none" strike="noStrike">
              <a:solidFill>
                <a:srgbClr val="000000"/>
              </a:solidFill>
              <a:effectLst/>
              <a:uFillTx/>
              <a:latin typeface="Arial"/>
            </a:endParaRPr>
          </a:p>
        </p:txBody>
      </p:sp>
      <p:sp>
        <p:nvSpPr>
          <p:cNvPr id="65" name=""/>
          <p:cNvSpPr txBox="1"/>
          <p:nvPr/>
        </p:nvSpPr>
        <p:spPr>
          <a:xfrm>
            <a:off x="187200" y="6559200"/>
            <a:ext cx="8385120" cy="298800"/>
          </a:xfrm>
          <a:prstGeom prst="rect">
            <a:avLst/>
          </a:prstGeom>
          <a:noFill/>
          <a:ln w="0">
            <a:noFill/>
          </a:ln>
        </p:spPr>
        <p:txBody>
          <a:bodyPr lIns="90000" rIns="90000" tIns="45000" bIns="45000" anchor="t">
            <a:normAutofit/>
          </a:bodyPr>
          <a:p>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r>
              <a:rPr lang="en-US" sz="500" b="0" u="none" strike="noStrike">
                <a:solidFill>
                  <a:srgbClr val="484a52"/>
                </a:solidFill>
                <a:effectLst/>
                <a:uFillTx/>
                <a:latin typeface="CenturyGothic"/>
                <a:ea typeface="CenturyGothic"/>
              </a:rPr>
              <a:t>.</a:t>
            </a:r>
            <a:endParaRPr lang="en-US" sz="500" b="0" u="none" strike="noStrike">
              <a:solidFill>
                <a:srgbClr val="000000"/>
              </a:solidFill>
              <a:effectLst/>
              <a:uFillTx/>
              <a:latin typeface="Arial"/>
            </a:endParaRPr>
          </a:p>
        </p:txBody>
      </p:sp>
      <p:pic>
        <p:nvPicPr>
          <p:cNvPr id="66" name=""/>
          <p:cNvPicPr/>
          <p:nvPr/>
        </p:nvPicPr>
        <p:blipFill>
          <a:blip r:embed="rId1"/>
          <a:stretch/>
        </p:blipFill>
        <p:spPr>
          <a:xfrm>
            <a:off x="7078320" y="6127560"/>
            <a:ext cx="1766520" cy="581040"/>
          </a:xfrm>
          <a:prstGeom prst="rect">
            <a:avLst/>
          </a:prstGeom>
          <a:noFill/>
          <a:ln w="0">
            <a:noFill/>
          </a:ln>
        </p:spPr>
      </p:pic>
      <p:pic>
        <p:nvPicPr>
          <p:cNvPr id="67" name=""/>
          <p:cNvPicPr/>
          <p:nvPr/>
        </p:nvPicPr>
        <p:blipFill>
          <a:blip r:embed="rId2"/>
          <a:stretch/>
        </p:blipFill>
        <p:spPr>
          <a:xfrm>
            <a:off x="1268640" y="2975400"/>
            <a:ext cx="6606720" cy="265176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LibreOffice/25.8.4.2$MacOSX_AARCH64 LibreOffice_project/290daaa01b999472f0c7a3890eb6a550fd74c6df</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
  <cp:revision>0</cp:revision>
  <dc:subject/>
  <dc:title/>
</cp:coreProperties>
</file>