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8" r:id="rId6"/>
    <p:sldMasterId id="2147483660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7.xml"/><Relationship Id="rId7" Type="http://schemas.openxmlformats.org/officeDocument/2006/relationships/slideMaster" Target="slideMasters/slideMaster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/>
          <p:nvPr/>
        </p:nvPicPr>
        <p:blipFill>
          <a:blip r:embed="rId2"/>
          <a:stretch/>
        </p:blipFill>
        <p:spPr>
          <a:xfrm>
            <a:off x="0" y="360"/>
            <a:ext cx="10078560" cy="56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227400" y="2605680"/>
            <a:ext cx="58903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172679-EF90-4776-BAD9-6FCA3A8303E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/>
          <p:cNvPicPr/>
          <p:nvPr/>
        </p:nvPicPr>
        <p:blipFill>
          <a:blip r:embed="rId2"/>
          <a:stretch/>
        </p:blipFill>
        <p:spPr>
          <a:xfrm>
            <a:off x="0" y="360"/>
            <a:ext cx="10078560" cy="56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227400" y="2605680"/>
            <a:ext cx="58903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195000" y="3886200"/>
            <a:ext cx="594792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93DAC0-8909-4F44-9E3C-8C2FE78FE0C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ubtopic tos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227400" y="2429640"/>
            <a:ext cx="58903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E2C1F1C-EFCE-43A2-B4A9-63AEC78EAB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ubtopic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227400" y="2429640"/>
            <a:ext cx="58903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FF05EDC-B63C-4DC8-A6A0-DD2A4AA7EC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white lotu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"/>
          <p:cNvPicPr/>
          <p:nvPr/>
        </p:nvPicPr>
        <p:blipFill>
          <a:blip r:embed="rId2"/>
          <a:stretch/>
        </p:blipFill>
        <p:spPr>
          <a:xfrm>
            <a:off x="360" y="0"/>
            <a:ext cx="10078560" cy="56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227400" y="2605680"/>
            <a:ext cx="58903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81FC76-A47E-4758-AC2E-6D2D72AA3D7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"/>
          <p:cNvPicPr/>
          <p:nvPr/>
        </p:nvPicPr>
        <p:blipFill>
          <a:blip r:embed="rId2"/>
          <a:stretch/>
        </p:blipFill>
        <p:spPr>
          <a:xfrm>
            <a:off x="360" y="0"/>
            <a:ext cx="10078560" cy="56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227400" y="2605680"/>
            <a:ext cx="58903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195000" y="3886200"/>
            <a:ext cx="594792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16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7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611BAD-CCD4-48E3-B94B-2BCDC64006F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dt" idx="18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white lotu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227400" y="2429640"/>
            <a:ext cx="58903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D6A02CE-040A-40E6-BA79-4A8C89A16B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white 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227400" y="2429640"/>
            <a:ext cx="58903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ECDD202-77A3-4CBA-B388-A75B47AAB5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/>
          <p:cNvPicPr/>
          <p:nvPr/>
        </p:nvPicPr>
        <p:blipFill>
          <a:blip r:embed="rId2"/>
          <a:stretch/>
        </p:blipFill>
        <p:spPr>
          <a:xfrm>
            <a:off x="360" y="360"/>
            <a:ext cx="10078560" cy="56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227400" y="2604960"/>
            <a:ext cx="58903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07E5FF-B5A0-48AD-B960-F96038F8983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/>
          <p:cNvPicPr/>
          <p:nvPr/>
        </p:nvPicPr>
        <p:blipFill>
          <a:blip r:embed="rId2"/>
          <a:stretch/>
        </p:blipFill>
        <p:spPr>
          <a:xfrm>
            <a:off x="720" y="0"/>
            <a:ext cx="10078560" cy="56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227400" y="2604960"/>
            <a:ext cx="58903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9112E3-99A0-421C-A9C0-96C5BB792D6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"/>
          <p:cNvPicPr/>
          <p:nvPr/>
        </p:nvPicPr>
        <p:blipFill>
          <a:blip r:embed="rId2"/>
          <a:stretch/>
        </p:blipFill>
        <p:spPr>
          <a:xfrm>
            <a:off x="360" y="0"/>
            <a:ext cx="10078560" cy="56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227400" y="2604960"/>
            <a:ext cx="58903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19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20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ECFE57-1363-4535-B5EF-4BA88C232EF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1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/>
          <p:cNvPicPr/>
          <p:nvPr/>
        </p:nvPicPr>
        <p:blipFill>
          <a:blip r:embed="rId2"/>
          <a:stretch/>
        </p:blipFill>
        <p:spPr>
          <a:xfrm>
            <a:off x="1440" y="0"/>
            <a:ext cx="10078560" cy="566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227400" y="2604960"/>
            <a:ext cx="58903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2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3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FDBE8A-B5B3-49A9-AC05-C720659A346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4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48240" y="1141920"/>
            <a:ext cx="8181720" cy="221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4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{{month}} Customer </a:t>
            </a:r>
            <a:br>
              <a:rPr sz="3400"/>
            </a:br>
            <a:r>
              <a:rPr lang="en-US" sz="34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Support Overview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61560" y="1827720"/>
            <a:ext cx="8156160" cy="182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ource Sans 3"/>
              </a:rPr>
              <a:t>Customer Support Retailer</a:t>
            </a:r>
            <a:br>
              <a:rPr sz="3400"/>
            </a:b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ource Sans 3"/>
              </a:rPr>
              <a:t>User activity overview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43000" y="265680"/>
            <a:ext cx="8229600" cy="707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Support Activity Overview </a:t>
            </a:r>
            <a:r>
              <a:rPr lang="en-US" sz="20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Retailer Users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001880" y="1704240"/>
            <a:ext cx="425592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000" b="0" u="none" spc="-99" strike="noStrike">
                <a:solidFill>
                  <a:srgbClr val="003248"/>
                </a:solidFill>
                <a:effectLst/>
                <a:uFillTx/>
                <a:latin typeface="Arial"/>
                <a:ea typeface="Arial"/>
              </a:rPr>
              <a:t>Total requests handled by support: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5345280" y="1704240"/>
            <a:ext cx="425592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000" b="0" u="none" spc="-99" strike="noStrike">
                <a:solidFill>
                  <a:srgbClr val="003248"/>
                </a:solidFill>
                <a:effectLst/>
                <a:uFillTx/>
                <a:latin typeface="Arial"/>
                <a:ea typeface="Arial"/>
              </a:rPr>
              <a:t>Average resolution time: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7" name=""/>
          <p:cNvGraphicFramePr/>
          <p:nvPr/>
        </p:nvGraphicFramePr>
        <p:xfrm>
          <a:off x="5382360" y="2278080"/>
          <a:ext cx="3589560" cy="1712160"/>
        </p:xfrm>
        <a:graphic>
          <a:graphicData uri="http://schemas.openxmlformats.org/drawingml/2006/table">
            <a:tbl>
              <a:tblPr/>
              <a:tblGrid>
                <a:gridCol w="1794960"/>
                <a:gridCol w="1794960"/>
              </a:tblGrid>
              <a:tr h="6573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{{prev_month}}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93543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{{month}}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93543"/>
                    </a:solidFill>
                  </a:tcPr>
                </a:tc>
              </a:tr>
              <a:tr h="10548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{{re_prev_reso}}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{{re_reso}}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"/>
          <p:cNvGraphicFramePr/>
          <p:nvPr/>
        </p:nvGraphicFramePr>
        <p:xfrm>
          <a:off x="1028160" y="2265480"/>
          <a:ext cx="3589560" cy="1712160"/>
        </p:xfrm>
        <a:graphic>
          <a:graphicData uri="http://schemas.openxmlformats.org/drawingml/2006/table">
            <a:tbl>
              <a:tblPr/>
              <a:tblGrid>
                <a:gridCol w="1794960"/>
                <a:gridCol w="1794960"/>
              </a:tblGrid>
              <a:tr h="6573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{{prev_month}}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93543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{{month}}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93543"/>
                    </a:solidFill>
                  </a:tcPr>
                </a:tc>
              </a:tr>
              <a:tr h="10548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{{re_prev_req}}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{{re_req}}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940680" y="234360"/>
            <a:ext cx="8431920" cy="68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Support Activity Overview </a:t>
            </a:r>
            <a:br>
              <a:rPr sz="2800"/>
            </a:br>
            <a:r>
              <a:rPr lang="en-US" sz="20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Retailer Users - Categories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0" name=""/>
          <p:cNvGraphicFramePr/>
          <p:nvPr/>
        </p:nvGraphicFramePr>
        <p:xfrm>
          <a:off x="946080" y="1858680"/>
          <a:ext cx="7969320" cy="716760"/>
        </p:xfrm>
        <a:graphic>
          <a:graphicData uri="http://schemas.openxmlformats.org/drawingml/2006/table">
            <a:tbl>
              <a:tblPr/>
              <a:tblGrid>
                <a:gridCol w="5845680"/>
                <a:gridCol w="2124000"/>
              </a:tblGrid>
              <a:tr h="3700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Support Category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Count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{{table:re_sup_cat}} {{re_cat}}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{{re_cat_count}}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</a:tr>
            </a:tbl>
          </a:graphicData>
        </a:graphic>
      </p:graphicFrame>
      <p:sp>
        <p:nvSpPr>
          <p:cNvPr id="61" name=""/>
          <p:cNvSpPr/>
          <p:nvPr/>
        </p:nvSpPr>
        <p:spPr>
          <a:xfrm>
            <a:off x="910800" y="1371600"/>
            <a:ext cx="425592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000" b="0" u="none" spc="-99" strike="noStrike">
                <a:solidFill>
                  <a:srgbClr val="003248"/>
                </a:solidFill>
                <a:effectLst/>
                <a:uFillTx/>
                <a:latin typeface="Arial"/>
                <a:ea typeface="Arial"/>
              </a:rPr>
              <a:t>Requests by category type: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14400" y="253080"/>
            <a:ext cx="8229600" cy="73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Support Activity Overview </a:t>
            </a:r>
            <a:br>
              <a:rPr sz="2800"/>
            </a:br>
            <a:r>
              <a:rPr lang="en-US" sz="20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Retailer Users – Satisfaction Scores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3" name=""/>
          <p:cNvGraphicFramePr/>
          <p:nvPr/>
        </p:nvGraphicFramePr>
        <p:xfrm>
          <a:off x="936720" y="1850040"/>
          <a:ext cx="8228880" cy="3341160"/>
        </p:xfrm>
        <a:graphic>
          <a:graphicData uri="http://schemas.openxmlformats.org/drawingml/2006/table">
            <a:tbl>
              <a:tblPr/>
              <a:tblGrid>
                <a:gridCol w="2056320"/>
                <a:gridCol w="2056320"/>
                <a:gridCol w="2056320"/>
                <a:gridCol w="2060280"/>
              </a:tblGrid>
              <a:tr h="907200">
                <a:tc gridSpan="2"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3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{{prev_month}}</a:t>
                      </a:r>
                      <a:endParaRPr lang="en-US" sz="3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93543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3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{{month}}</a:t>
                      </a:r>
                      <a:endParaRPr lang="en-US" sz="3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93543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7437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Good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Good with Comment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Good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Good with Comment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</a:tr>
              <a:tr h="8164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{{re_prev_sat}}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{{re_prev_sat_c}}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{{re_sat}}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{{re_sat_c}}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61560" y="1827720"/>
            <a:ext cx="8156160" cy="182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ource Sans 3"/>
              </a:rPr>
              <a:t>Customer Support Supplier</a:t>
            </a:r>
            <a:br>
              <a:rPr sz="3400"/>
            </a:b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ource Sans 3"/>
              </a:rPr>
              <a:t>Users activity overview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914400" y="265680"/>
            <a:ext cx="7364520" cy="707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Support Activity Overview </a:t>
            </a:r>
            <a:r>
              <a:rPr lang="en-US" sz="20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Supplier Users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001880" y="1704240"/>
            <a:ext cx="425592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000" b="0" u="none" spc="-99" strike="noStrike">
                <a:solidFill>
                  <a:srgbClr val="003248"/>
                </a:solidFill>
                <a:effectLst/>
                <a:uFillTx/>
                <a:latin typeface="Arial"/>
                <a:ea typeface="Arial"/>
              </a:rPr>
              <a:t>Total requests handled by support: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5345280" y="1704240"/>
            <a:ext cx="425592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000" b="0" u="none" spc="-99" strike="noStrike">
                <a:solidFill>
                  <a:srgbClr val="003248"/>
                </a:solidFill>
                <a:effectLst/>
                <a:uFillTx/>
                <a:latin typeface="Arial"/>
                <a:ea typeface="Arial"/>
              </a:rPr>
              <a:t>Average resolution time: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8" name=""/>
          <p:cNvGraphicFramePr/>
          <p:nvPr/>
        </p:nvGraphicFramePr>
        <p:xfrm>
          <a:off x="5382360" y="2278080"/>
          <a:ext cx="3589560" cy="1712160"/>
        </p:xfrm>
        <a:graphic>
          <a:graphicData uri="http://schemas.openxmlformats.org/drawingml/2006/table">
            <a:tbl>
              <a:tblPr/>
              <a:tblGrid>
                <a:gridCol w="1794960"/>
                <a:gridCol w="1794960"/>
              </a:tblGrid>
              <a:tr h="6573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{{prev_month}}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93543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{{month}}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93543"/>
                    </a:solidFill>
                  </a:tcPr>
                </a:tc>
              </a:tr>
              <a:tr h="10548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{{su_prev_reso}}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{{su_reso}}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"/>
          <p:cNvGraphicFramePr/>
          <p:nvPr/>
        </p:nvGraphicFramePr>
        <p:xfrm>
          <a:off x="1028160" y="2265480"/>
          <a:ext cx="3589560" cy="1712160"/>
        </p:xfrm>
        <a:graphic>
          <a:graphicData uri="http://schemas.openxmlformats.org/drawingml/2006/table">
            <a:tbl>
              <a:tblPr/>
              <a:tblGrid>
                <a:gridCol w="1794960"/>
                <a:gridCol w="1794960"/>
              </a:tblGrid>
              <a:tr h="6573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{{prev_month}}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93543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{{month}}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93543"/>
                    </a:solidFill>
                  </a:tcPr>
                </a:tc>
              </a:tr>
              <a:tr h="10548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{{su_prev_req}}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{{su_req}}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914400" y="234360"/>
            <a:ext cx="5890320" cy="68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Support Activity Overview </a:t>
            </a:r>
            <a:r>
              <a:rPr lang="en-US" sz="20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 </a:t>
            </a:r>
            <a:br>
              <a:rPr sz="2000"/>
            </a:br>
            <a:r>
              <a:rPr lang="en-US" sz="20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Supplier Users - Categories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1" name=""/>
          <p:cNvGraphicFramePr/>
          <p:nvPr/>
        </p:nvGraphicFramePr>
        <p:xfrm>
          <a:off x="923040" y="1833480"/>
          <a:ext cx="7905600" cy="716760"/>
        </p:xfrm>
        <a:graphic>
          <a:graphicData uri="http://schemas.openxmlformats.org/drawingml/2006/table">
            <a:tbl>
              <a:tblPr/>
              <a:tblGrid>
                <a:gridCol w="5799240"/>
                <a:gridCol w="2106720"/>
              </a:tblGrid>
              <a:tr h="3700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Support Category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Count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{{table:su_sup_cat}} {{su_cat}}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{{su_cat_count}}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</a:tr>
            </a:tbl>
          </a:graphicData>
        </a:graphic>
      </p:graphicFrame>
      <p:sp>
        <p:nvSpPr>
          <p:cNvPr id="72" name=""/>
          <p:cNvSpPr/>
          <p:nvPr/>
        </p:nvSpPr>
        <p:spPr>
          <a:xfrm>
            <a:off x="914400" y="1371600"/>
            <a:ext cx="425592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000" b="0" u="none" spc="-99" strike="noStrike">
                <a:solidFill>
                  <a:srgbClr val="003248"/>
                </a:solidFill>
                <a:effectLst/>
                <a:uFillTx/>
                <a:latin typeface="Arial"/>
                <a:ea typeface="Arial"/>
              </a:rPr>
              <a:t>Requests by category type: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914400" y="253080"/>
            <a:ext cx="4622400" cy="73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Support Activity Overview</a:t>
            </a:r>
            <a:r>
              <a:rPr lang="en-US" sz="20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 </a:t>
            </a:r>
            <a:br>
              <a:rPr sz="2000"/>
            </a:br>
            <a:r>
              <a:rPr lang="en-US" sz="20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Supplier Users– Satisfaction Scores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4" name=""/>
          <p:cNvGraphicFramePr/>
          <p:nvPr/>
        </p:nvGraphicFramePr>
        <p:xfrm>
          <a:off x="953640" y="1850040"/>
          <a:ext cx="8228880" cy="3336480"/>
        </p:xfrm>
        <a:graphic>
          <a:graphicData uri="http://schemas.openxmlformats.org/drawingml/2006/table">
            <a:tbl>
              <a:tblPr/>
              <a:tblGrid>
                <a:gridCol w="2056320"/>
                <a:gridCol w="2056320"/>
                <a:gridCol w="2056320"/>
                <a:gridCol w="2060280"/>
              </a:tblGrid>
              <a:tr h="906120">
                <a:tc gridSpan="2"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3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{{prev_month}}</a:t>
                      </a:r>
                      <a:endParaRPr lang="en-US" sz="3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93543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3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{{month}}</a:t>
                      </a:r>
                      <a:endParaRPr lang="en-US" sz="3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93543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74304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Good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Good with Comment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Good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Good with Comment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</a:tr>
              <a:tr h="8391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{{su_prev_sat}}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{{su_prev_sat_c}}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{{su_sat}}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{{su_sat_c}}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961560" y="1827720"/>
            <a:ext cx="8156160" cy="182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ource Sans 3"/>
              </a:rPr>
              <a:t>Global Data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14400" y="265680"/>
            <a:ext cx="5536800" cy="707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8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Support Activity Overview </a:t>
            </a:r>
            <a:r>
              <a:rPr lang="en-US" sz="20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 Global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7" name=""/>
          <p:cNvGraphicFramePr/>
          <p:nvPr/>
        </p:nvGraphicFramePr>
        <p:xfrm>
          <a:off x="973080" y="1881360"/>
          <a:ext cx="8134200" cy="716760"/>
        </p:xfrm>
        <a:graphic>
          <a:graphicData uri="http://schemas.openxmlformats.org/drawingml/2006/table">
            <a:tbl>
              <a:tblPr/>
              <a:tblGrid>
                <a:gridCol w="5966640"/>
                <a:gridCol w="2167920"/>
              </a:tblGrid>
              <a:tr h="3700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Org Name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Count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{{table:top_orgs}} {{org_name}}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{{org_count}}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5b9ab"/>
                    </a:solidFill>
                  </a:tcPr>
                </a:tc>
              </a:tr>
            </a:tbl>
          </a:graphicData>
        </a:graphic>
      </p:graphicFrame>
      <p:sp>
        <p:nvSpPr>
          <p:cNvPr id="78" name=""/>
          <p:cNvSpPr/>
          <p:nvPr/>
        </p:nvSpPr>
        <p:spPr>
          <a:xfrm>
            <a:off x="914400" y="1371600"/>
            <a:ext cx="425592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2000" b="0" u="none" spc="-99" strike="noStrike">
                <a:solidFill>
                  <a:srgbClr val="003248"/>
                </a:solidFill>
                <a:effectLst/>
                <a:uFillTx/>
                <a:latin typeface="Arial"/>
                <a:ea typeface="Arial"/>
              </a:rPr>
              <a:t>Top 5 Suppliers for {{month}}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227400" y="1827720"/>
            <a:ext cx="5890320" cy="182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173f4f"/>
                </a:solidFill>
                <a:effectLst/>
                <a:uFillTx/>
                <a:latin typeface="Source Sans 3"/>
              </a:rPr>
              <a:t>The company thanks you :)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Geometric-Lotus-Impress-Template-v1.0</Template>
  <TotalTime>29</TotalTime>
  <Application>LibreOffice/25.8.4.2$MacOSX_AARCH64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2026-02-04T13:21:33Z</dcterms:created>
  <dc:creator/>
  <dc:description/>
  <dc:language>en-US</dc:language>
  <cp:lastModifiedBy/>
  <dcterms:modified xsi:type="dcterms:W3CDTF">2026-02-05T00:02:04Z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